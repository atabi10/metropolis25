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3814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WELCOME &amp; STATE OF THE CLUB
Good evening everyone, and welcome. I'm really glad so many of you could join us tonight.
We are SC Metropolis 25 Berlin e.V. — and this is our first official online members' meeting. That in itself is something worth acknowledging. We have a club. We have members. We have a community. And tonight, we want to share with you everything that has been built, everything that is in motion, and everything we need from each of you to take this to the next level.
Let me start where it all began. In 2019, a small group of friends — seven of us — started meeting every Saturday in Berlin-Lichtenberg to play football. No club. No structure. Just a ball and a passion for the game.
Today, we are a registered non-profit sports club with 37 registered members, over 133 community members, representing more than 10 nationalities. From seven friends to one of Berlin's newest officially registered football clubs. That journey is remarkable, and it was built by this community.
Our motto captures it perfectly: 'Wo Berlin pulsiert, wächst unsere Stärke.' — Where Berlin pulses, our strength grows.
[PAUSE — let the slide speak]
So tonight, let's talk about where we are, how far we've come, and where we're going.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WE HAVE ACHIEVED
Now let me walk you through what this club has actually built — because sometimes we are so busy with the next step that we forget to appreciate how far we've come.
On the football side: we have an established men's first team. We reached the final of the Symposium Mboa 2023. And in 2026, we officially participated in multiple Berlin tournaments — the Tournoi de l'Intégration Berlin, where we competed strongly; the Symposium Mboa 2026, where we reached the quarter-final; and the African Cup Berlin 2026, where we again reached the quarter-final. We are currently registering on DFBnet — the official German football player management platform. This is not a Sunday kickabout. This is a real club going places.
On club development: we are a registered non-profit association — an 'eingetragener Verein.' That is a legal status that took real work to achieve. We have a professional website, a complete visual identity, and a brand that represents us with pride.
On administration: we have been provisionally admitted into the Berlin football system. Our statutes have been amended to meet all legal requirements. We have filed an application for official sporting recognition — and we are waiting for that to be confirmed.
And on growth: our sponsorship presentation is complete. Outreach has started. Several companies have already been contacted. The community around this club continues to grow every week.
[PAUSE]
An incredible amount has been achieved in a very short time. And I want you to feel proud of that — because you are all part of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WHERE WE STAND TODAY
I believe in being transparent with you. So let me show you exactly where we are — what is done, what is in progress, and what our most urgent priority is.
In green — completed: We are a registered association. We have a football team structure. Our website is live. Our branding is done. Our sponsorship presentation is complete. And we have received provisional admission into the Berlin football system. These are done. These are real.
In amber — in progress: We are waiting for official sporting recognition from the Berlin authorities. Sponsor acquisition has begun and is ongoing. We are planning the launch of a women's section. And we are building partnerships with other organisations in Berlin.
Now — red. One single priority stands above everything else right now. And I want to be honest with you about it.
We do not yet have a permanent training ground.
This is our biggest constraint. Without a fixed location, we cannot regularise our training schedule, we cannot register for official league football, and we cannot build the kind of structure that takes a club to the next level.
We are actively working on this. We are in conversations with district sports offices in several Berlin boroughs. We are approaching football clubs about shared use. We are completely flexible — any location, any weekday, any training time, shared or exclusive use.
If anyone here tonight knows a school, a sports club, a football facility, or has a contact in a district sports office — please, come and speak to us after this meeting. This is the one thing that will change everything.
[PAUSE]
The club is ready. The missing piece is our permanent home.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VISION 2030
Now I want to share something that I think will inspire you — our vision for what SC Metropolis 25 can become by 2030.
We are not building a football club. We are building a multicultural community sports club for Berlin.
Phase 1 — and this is our absolute immediate focus — is to establish official league football. Get our team into competitive fixtures, registered on DFBnet, and playing in the Berlin football system. This is the foundation. Without this, nothing else happens.
Phase 2 — and this is very close — is basketball. We already have over 25 members who are interested. We have a concrete plan to register a basketball department with the Berliner Basketball Verband by the end of August 2026. If anyone here tonight is a basketball player, or knows one — speak to us tonight.
And looking further ahead — the future of SC Metropolis 25 includes handball, volleyball, tennis, youth development, women's football, and community events that bring all of our communities together.
I want to be clear: we are not rushing. Every phase depends on building the previous one properly. Football first — then everything else follows.
But I want you to know the direction we are going. Because when you pay your membership fee, when you help us find a training ground, when you introduce us to a potential sponsor — you are not just supporting a football club. You are building something much bigger.
[PAUSE]
SC Metropolis 25 — one of Berlin's leading multicultural community sports clubs by 2030. That is the vision. And we are already on the way.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THE NEXT CHAPTER STARTS WITH ALL OF US
And now we come to the most important part of this meeting.
Because everything I've shown you tonight — the structure, the vision, the achievements — none of it continues without your active contribution. So I want to speak very directly about four ways every single member can help.
First: the membership fee. Ten euros a month. That is not a large amount — but it is essential. Right now, before we have sponsors, your membership fees are the primary source of income for this club. They pay for our federation fees, our insurance, player registrations, training facilities, equipment, website, and our team kits. Until we secure long-term sponsors, this is what keeps SC Metropolis 25 running. Please pay your fee. And please pay it consistently.
Second: help us find a sports facility. This is our number one challenge, and your network might hold the answer. Do you know a school with a sports hall? A football club with a pitch that's available? A facility manager? A contact at a district sports office? Any lead — no matter how small — could be the one that solves this. Please share anything you know.
Third: help us find sponsors. You know people we don't know. Your employer, your local businesses, restaurants, gyms, banks, insurance companies, startups. One introduction to the right person can unlock a sponsorship that changes the financial picture of this club. We have a professional sponsorship deck ready to share. All we need is the door to open.
Fourth: volunteer. We need people for football, for basketball planning, for events, for social media, for administration. If you have one hour a week to give, we will find something meaningful for you to do.
[PAUSE]
SC Metropolis 25 was not built by one person. It was built by a community. Every one of you sitting here tonight is part of that community. The next chapter begins with all of us.
Thank you. And now I'd like to open the floor for questions and discussion.
[Q&amp;A — allow 10–15 minutes. Key topics to be ready for: membership fee payment methods, training ground timeline, BFV registration status, basketball launch date.]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THANK YOU &amp; Q&amp;A
And on that note — thank you.
Thank you for being here tonight. Thank you for being part of SC Metropolis 25. Thank you for everything you have already given to this club — your time, your energy, your belief.
We have covered a lot tonight: where we come from, what we have built, where we stand, and where we are going. And I hope you leave this meeting feeling proud, informed, and motivated.
Now — the floor is yours. Please ask any question, share any idea, or raise anything that is on your mind. This is your club. Your voice matters here.
[OPEN Q&amp;A — suggested duration: 10–15 minutes]
Key topics to be prepared for:
— Membership fee: when and how to pay (PayPal: kontakt@sc-metropolis25.de — bank account coming soon)
— Training ground: current status and how members can help
— BFV and DFBnet registration: timeline and what it means
— Basketball department: launch plans and BBV registration by Aug 30
— Women's football: interest and planning status
— Sponsorship: how members can make introductions
[CLOSE]
Thank you all once again. Stay connected. Stay involved. And let's make the next chapter of SC Metropolis 25 the best one yet.
Wo Berlin pulsiert, wächst unsere Stärke.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jp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ecstatic-optimistic-johnson/mnt/outputs/hero_dark.jp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2855">
              <a:alpha val="65000"/>
            </a:srgbClr>
          </a:solidFill>
          <a:ln w="12700">
            <a:solidFill>
              <a:srgbClr val="002855"/>
            </a:solidFill>
            <a:prstDash val="solid"/>
          </a:ln>
        </p:spPr>
        <p:txBody>
          <a:bodyPr/>
          <a:lstStyle/>
          <a:p>
            <a:endParaRPr lang="de-FR"/>
          </a:p>
        </p:txBody>
      </p:sp>
      <p:pic>
        <p:nvPicPr>
          <p:cNvPr id="4" name="Image 1" descr="/sessions/ecstatic-optimistic-johnson/mnt/Sportclub website/public/m25-logo.png"/>
          <p:cNvPicPr>
            <a:picLocks noChangeAspect="1"/>
          </p:cNvPicPr>
          <p:nvPr/>
        </p:nvPicPr>
        <p:blipFill>
          <a:blip r:embed="rId4"/>
          <a:stretch>
            <a:fillRect/>
          </a:stretch>
        </p:blipFill>
        <p:spPr>
          <a:xfrm>
            <a:off x="347472" y="228600"/>
            <a:ext cx="594360" cy="676656"/>
          </a:xfrm>
          <a:prstGeom prst="rect">
            <a:avLst/>
          </a:prstGeom>
        </p:spPr>
      </p:pic>
      <p:sp>
        <p:nvSpPr>
          <p:cNvPr id="5" name="Text 1"/>
          <p:cNvSpPr/>
          <p:nvPr/>
        </p:nvSpPr>
        <p:spPr>
          <a:xfrm>
            <a:off x="1051560" y="256032"/>
            <a:ext cx="6858000" cy="384048"/>
          </a:xfrm>
          <a:prstGeom prst="rect">
            <a:avLst/>
          </a:prstGeom>
          <a:noFill/>
          <a:ln/>
        </p:spPr>
        <p:txBody>
          <a:bodyPr wrap="square" lIns="0" tIns="0" rIns="0" bIns="0" rtlCol="0" anchor="ctr"/>
          <a:lstStyle/>
          <a:p>
            <a:pPr marL="0" indent="0" algn="l">
              <a:buNone/>
            </a:pPr>
            <a:r>
              <a:rPr lang="en-US" sz="1100" b="1" kern="0" spc="400" dirty="0">
                <a:solidFill>
                  <a:srgbClr val="E0A106"/>
                </a:solidFill>
                <a:latin typeface="Arial" pitchFamily="34" charset="0"/>
                <a:ea typeface="Arial" pitchFamily="34" charset="-122"/>
                <a:cs typeface="Arial" pitchFamily="34" charset="-120"/>
              </a:rPr>
              <a:t>SC METROPOLIS 25 BERLIN e.V.</a:t>
            </a:r>
            <a:endParaRPr lang="en-US" sz="1100" dirty="0"/>
          </a:p>
        </p:txBody>
      </p:sp>
      <p:sp>
        <p:nvSpPr>
          <p:cNvPr id="6" name="Text 2"/>
          <p:cNvSpPr/>
          <p:nvPr/>
        </p:nvSpPr>
        <p:spPr>
          <a:xfrm>
            <a:off x="1051560" y="621792"/>
            <a:ext cx="6858000" cy="274320"/>
          </a:xfrm>
          <a:prstGeom prst="rect">
            <a:avLst/>
          </a:prstGeom>
          <a:noFill/>
          <a:ln/>
        </p:spPr>
        <p:txBody>
          <a:bodyPr wrap="square" lIns="0" tIns="0" rIns="0" bIns="0" rtlCol="0" anchor="ctr"/>
          <a:lstStyle/>
          <a:p>
            <a:pPr marL="0" indent="0" algn="l">
              <a:buNone/>
            </a:pPr>
            <a:r>
              <a:rPr lang="en-US" sz="850" kern="0" spc="300" dirty="0">
                <a:solidFill>
                  <a:srgbClr val="8899AA"/>
                </a:solidFill>
                <a:latin typeface="Arial" pitchFamily="34" charset="0"/>
                <a:ea typeface="Arial" pitchFamily="34" charset="-122"/>
                <a:cs typeface="Arial" pitchFamily="34" charset="-120"/>
              </a:rPr>
              <a:t>MEMBERS UPDATE  ·  JULY 2026</a:t>
            </a:r>
            <a:endParaRPr lang="en-US" sz="850" dirty="0"/>
          </a:p>
        </p:txBody>
      </p:sp>
      <p:sp>
        <p:nvSpPr>
          <p:cNvPr id="7" name="Shape 3"/>
          <p:cNvSpPr/>
          <p:nvPr/>
        </p:nvSpPr>
        <p:spPr>
          <a:xfrm>
            <a:off x="347472" y="1005840"/>
            <a:ext cx="8449056" cy="22860"/>
          </a:xfrm>
          <a:prstGeom prst="rect">
            <a:avLst/>
          </a:prstGeom>
          <a:solidFill>
            <a:srgbClr val="E0A106">
              <a:alpha val="70000"/>
            </a:srgbClr>
          </a:solidFill>
          <a:ln w="12700">
            <a:solidFill>
              <a:srgbClr val="E0A106"/>
            </a:solidFill>
            <a:prstDash val="solid"/>
          </a:ln>
        </p:spPr>
        <p:txBody>
          <a:bodyPr/>
          <a:lstStyle/>
          <a:p>
            <a:endParaRPr lang="de-FR"/>
          </a:p>
        </p:txBody>
      </p:sp>
      <p:sp>
        <p:nvSpPr>
          <p:cNvPr id="8" name="Text 4"/>
          <p:cNvSpPr/>
          <p:nvPr/>
        </p:nvSpPr>
        <p:spPr>
          <a:xfrm>
            <a:off x="347472" y="1115568"/>
            <a:ext cx="5120640" cy="2176272"/>
          </a:xfrm>
          <a:prstGeom prst="rect">
            <a:avLst/>
          </a:prstGeom>
          <a:noFill/>
          <a:ln/>
        </p:spPr>
        <p:txBody>
          <a:bodyPr wrap="square" lIns="0" tIns="0" rIns="0" bIns="0" rtlCol="0" anchor="t"/>
          <a:lstStyle/>
          <a:p>
            <a:pPr marL="0" indent="0" algn="l">
              <a:lnSpc>
                <a:spcPct val="110000"/>
              </a:lnSpc>
              <a:buNone/>
            </a:pPr>
            <a:r>
              <a:rPr lang="en-US" sz="4400" b="1" dirty="0">
                <a:solidFill>
                  <a:srgbClr val="FFFFFF"/>
                </a:solidFill>
                <a:latin typeface="Arial Black" pitchFamily="34" charset="0"/>
                <a:ea typeface="Arial Black" pitchFamily="34" charset="-122"/>
                <a:cs typeface="Arial Black" pitchFamily="34" charset="-120"/>
              </a:rPr>
              <a:t>One Club.</a:t>
            </a:r>
            <a:endParaRPr lang="en-US" sz="4400" dirty="0"/>
          </a:p>
          <a:p>
            <a:pPr marL="0" indent="0" algn="l">
              <a:lnSpc>
                <a:spcPct val="110000"/>
              </a:lnSpc>
              <a:buNone/>
            </a:pPr>
            <a:r>
              <a:rPr lang="en-US" sz="4400" b="1" dirty="0">
                <a:solidFill>
                  <a:srgbClr val="FFFFFF"/>
                </a:solidFill>
                <a:latin typeface="Arial Black" pitchFamily="34" charset="0"/>
                <a:ea typeface="Arial Black" pitchFamily="34" charset="-122"/>
                <a:cs typeface="Arial Black" pitchFamily="34" charset="-120"/>
              </a:rPr>
              <a:t>One City.</a:t>
            </a:r>
            <a:endParaRPr lang="en-US" sz="4400" dirty="0"/>
          </a:p>
          <a:p>
            <a:pPr marL="0" indent="0" algn="l">
              <a:lnSpc>
                <a:spcPct val="110000"/>
              </a:lnSpc>
              <a:buNone/>
            </a:pPr>
            <a:r>
              <a:rPr lang="en-US" sz="4400" b="1" dirty="0">
                <a:solidFill>
                  <a:srgbClr val="FFFFFF"/>
                </a:solidFill>
                <a:latin typeface="Arial Black" pitchFamily="34" charset="0"/>
                <a:ea typeface="Arial Black" pitchFamily="34" charset="-122"/>
                <a:cs typeface="Arial Black" pitchFamily="34" charset="-120"/>
              </a:rPr>
              <a:t>One Movement.</a:t>
            </a:r>
            <a:endParaRPr lang="en-US" sz="4400" dirty="0"/>
          </a:p>
        </p:txBody>
      </p:sp>
      <p:sp>
        <p:nvSpPr>
          <p:cNvPr id="9" name="Shape 5"/>
          <p:cNvSpPr/>
          <p:nvPr/>
        </p:nvSpPr>
        <p:spPr>
          <a:xfrm>
            <a:off x="347472" y="3401568"/>
            <a:ext cx="5120640" cy="585216"/>
          </a:xfrm>
          <a:prstGeom prst="rect">
            <a:avLst/>
          </a:prstGeom>
          <a:solidFill>
            <a:srgbClr val="E0A106"/>
          </a:solidFill>
          <a:ln w="1270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sp>
        <p:nvSpPr>
          <p:cNvPr id="10" name="Text 6"/>
          <p:cNvSpPr/>
          <p:nvPr/>
        </p:nvSpPr>
        <p:spPr>
          <a:xfrm>
            <a:off x="347472" y="3401568"/>
            <a:ext cx="5120640" cy="585216"/>
          </a:xfrm>
          <a:prstGeom prst="rect">
            <a:avLst/>
          </a:prstGeom>
          <a:noFill/>
          <a:ln/>
        </p:spPr>
        <p:txBody>
          <a:bodyPr wrap="square" lIns="0" tIns="0" rIns="0" bIns="0" rtlCol="0" anchor="ctr"/>
          <a:lstStyle/>
          <a:p>
            <a:pPr marL="0" indent="0" algn="ctr">
              <a:buNone/>
            </a:pPr>
            <a:r>
              <a:rPr lang="en-US" sz="1250" b="1" i="1" dirty="0">
                <a:solidFill>
                  <a:srgbClr val="0B1628"/>
                </a:solidFill>
                <a:latin typeface="Arial" pitchFamily="34" charset="0"/>
                <a:ea typeface="Arial" pitchFamily="34" charset="-122"/>
                <a:cs typeface="Arial" pitchFamily="34" charset="-120"/>
              </a:rPr>
              <a:t>Wo Berlin pulsiert, wächst unsere Stärke.</a:t>
            </a:r>
            <a:endParaRPr lang="en-US" sz="1250" dirty="0"/>
          </a:p>
        </p:txBody>
      </p:sp>
      <p:sp>
        <p:nvSpPr>
          <p:cNvPr id="11" name="Shape 7"/>
          <p:cNvSpPr/>
          <p:nvPr/>
        </p:nvSpPr>
        <p:spPr>
          <a:xfrm>
            <a:off x="5742432" y="1115568"/>
            <a:ext cx="3108960" cy="2871216"/>
          </a:xfrm>
          <a:prstGeom prst="roundRect">
            <a:avLst>
              <a:gd name="adj" fmla="val 2548"/>
            </a:avLst>
          </a:prstGeom>
          <a:solidFill>
            <a:srgbClr val="002855">
              <a:alpha val="85000"/>
            </a:srgbClr>
          </a:solidFill>
          <a:ln w="1524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sp>
        <p:nvSpPr>
          <p:cNvPr id="12" name="Text 8"/>
          <p:cNvSpPr/>
          <p:nvPr/>
        </p:nvSpPr>
        <p:spPr>
          <a:xfrm>
            <a:off x="5797296" y="1225296"/>
            <a:ext cx="1005840" cy="475488"/>
          </a:xfrm>
          <a:prstGeom prst="rect">
            <a:avLst/>
          </a:prstGeom>
          <a:noFill/>
          <a:ln/>
        </p:spPr>
        <p:txBody>
          <a:bodyPr wrap="square" lIns="0" tIns="0" rIns="0" bIns="0" rtlCol="0" anchor="ctr"/>
          <a:lstStyle/>
          <a:p>
            <a:pPr marL="0" indent="0" algn="ctr">
              <a:buNone/>
            </a:pPr>
            <a:r>
              <a:rPr lang="en-US" sz="2400" b="1" dirty="0">
                <a:solidFill>
                  <a:srgbClr val="E0A106"/>
                </a:solidFill>
                <a:latin typeface="Arial Black" pitchFamily="34" charset="0"/>
                <a:ea typeface="Arial Black" pitchFamily="34" charset="-122"/>
                <a:cs typeface="Arial Black" pitchFamily="34" charset="-120"/>
              </a:rPr>
              <a:t>2019</a:t>
            </a:r>
            <a:endParaRPr lang="en-US" sz="2400" dirty="0"/>
          </a:p>
        </p:txBody>
      </p:sp>
      <p:sp>
        <p:nvSpPr>
          <p:cNvPr id="13" name="Text 9"/>
          <p:cNvSpPr/>
          <p:nvPr/>
        </p:nvSpPr>
        <p:spPr>
          <a:xfrm>
            <a:off x="6821424" y="1225296"/>
            <a:ext cx="1874520" cy="475488"/>
          </a:xfrm>
          <a:prstGeom prst="rect">
            <a:avLst/>
          </a:prstGeom>
          <a:noFill/>
          <a:ln/>
        </p:spPr>
        <p:txBody>
          <a:bodyPr wrap="square" lIns="0" tIns="0" rIns="0" bIns="0" rtlCol="0" anchor="ctr"/>
          <a:lstStyle/>
          <a:p>
            <a:pPr marL="0" indent="0" algn="l">
              <a:buNone/>
            </a:pPr>
            <a:r>
              <a:rPr lang="en-US" sz="850" dirty="0">
                <a:solidFill>
                  <a:srgbClr val="FFFFFF"/>
                </a:solidFill>
                <a:latin typeface="Arial" pitchFamily="34" charset="0"/>
                <a:ea typeface="Arial" pitchFamily="34" charset="-122"/>
                <a:cs typeface="Arial" pitchFamily="34" charset="-120"/>
              </a:rPr>
              <a:t>Founded in</a:t>
            </a:r>
            <a:endParaRPr lang="en-US" sz="850" dirty="0"/>
          </a:p>
          <a:p>
            <a:pPr marL="0" indent="0" algn="l">
              <a:buNone/>
            </a:pPr>
            <a:r>
              <a:rPr lang="en-US" sz="850" dirty="0">
                <a:solidFill>
                  <a:srgbClr val="FFFFFF"/>
                </a:solidFill>
                <a:latin typeface="Arial" pitchFamily="34" charset="0"/>
                <a:ea typeface="Arial" pitchFamily="34" charset="-122"/>
                <a:cs typeface="Arial" pitchFamily="34" charset="-120"/>
              </a:rPr>
              <a:t>Berlin-Lichtenberg</a:t>
            </a:r>
            <a:endParaRPr lang="en-US" sz="850" dirty="0"/>
          </a:p>
        </p:txBody>
      </p:sp>
      <p:sp>
        <p:nvSpPr>
          <p:cNvPr id="14" name="Shape 10"/>
          <p:cNvSpPr/>
          <p:nvPr/>
        </p:nvSpPr>
        <p:spPr>
          <a:xfrm>
            <a:off x="5833872" y="1755648"/>
            <a:ext cx="2688336" cy="10973"/>
          </a:xfrm>
          <a:prstGeom prst="rect">
            <a:avLst/>
          </a:prstGeom>
          <a:solidFill>
            <a:srgbClr val="E0A106">
              <a:alpha val="30000"/>
            </a:srgbClr>
          </a:solidFill>
          <a:ln w="12700">
            <a:solidFill>
              <a:srgbClr val="E0A106"/>
            </a:solidFill>
            <a:prstDash val="solid"/>
          </a:ln>
        </p:spPr>
        <p:txBody>
          <a:bodyPr/>
          <a:lstStyle/>
          <a:p>
            <a:endParaRPr lang="de-FR"/>
          </a:p>
        </p:txBody>
      </p:sp>
      <p:sp>
        <p:nvSpPr>
          <p:cNvPr id="15" name="Text 11"/>
          <p:cNvSpPr/>
          <p:nvPr/>
        </p:nvSpPr>
        <p:spPr>
          <a:xfrm>
            <a:off x="5797296" y="1938528"/>
            <a:ext cx="1005840" cy="475488"/>
          </a:xfrm>
          <a:prstGeom prst="rect">
            <a:avLst/>
          </a:prstGeom>
          <a:noFill/>
          <a:ln/>
        </p:spPr>
        <p:txBody>
          <a:bodyPr wrap="square" lIns="0" tIns="0" rIns="0" bIns="0" rtlCol="0" anchor="ctr"/>
          <a:lstStyle/>
          <a:p>
            <a:pPr marL="0" indent="0" algn="ctr">
              <a:buNone/>
            </a:pPr>
            <a:r>
              <a:rPr lang="en-US" sz="3800" b="1" dirty="0">
                <a:solidFill>
                  <a:srgbClr val="E0A106"/>
                </a:solidFill>
                <a:latin typeface="Arial Black" pitchFamily="34" charset="0"/>
                <a:ea typeface="Arial Black" pitchFamily="34" charset="-122"/>
                <a:cs typeface="Arial Black" pitchFamily="34" charset="-120"/>
              </a:rPr>
              <a:t>37</a:t>
            </a:r>
            <a:endParaRPr lang="en-US" sz="3800" dirty="0"/>
          </a:p>
        </p:txBody>
      </p:sp>
      <p:sp>
        <p:nvSpPr>
          <p:cNvPr id="16" name="Text 12"/>
          <p:cNvSpPr/>
          <p:nvPr/>
        </p:nvSpPr>
        <p:spPr>
          <a:xfrm>
            <a:off x="6821424" y="1938528"/>
            <a:ext cx="1874520" cy="475488"/>
          </a:xfrm>
          <a:prstGeom prst="rect">
            <a:avLst/>
          </a:prstGeom>
          <a:noFill/>
          <a:ln/>
        </p:spPr>
        <p:txBody>
          <a:bodyPr wrap="square" lIns="0" tIns="0" rIns="0" bIns="0" rtlCol="0" anchor="ctr"/>
          <a:lstStyle/>
          <a:p>
            <a:pPr marL="0" indent="0" algn="l">
              <a:buNone/>
            </a:pPr>
            <a:r>
              <a:rPr lang="en-US" sz="850" dirty="0">
                <a:solidFill>
                  <a:srgbClr val="FFFFFF"/>
                </a:solidFill>
                <a:latin typeface="Arial" pitchFamily="34" charset="0"/>
                <a:ea typeface="Arial" pitchFamily="34" charset="-122"/>
                <a:cs typeface="Arial" pitchFamily="34" charset="-120"/>
              </a:rPr>
              <a:t>Registered</a:t>
            </a:r>
            <a:endParaRPr lang="en-US" sz="850" dirty="0"/>
          </a:p>
          <a:p>
            <a:pPr marL="0" indent="0" algn="l">
              <a:buNone/>
            </a:pPr>
            <a:r>
              <a:rPr lang="en-US" sz="850" dirty="0">
                <a:solidFill>
                  <a:srgbClr val="FFFFFF"/>
                </a:solidFill>
                <a:latin typeface="Arial" pitchFamily="34" charset="0"/>
                <a:ea typeface="Arial" pitchFamily="34" charset="-122"/>
                <a:cs typeface="Arial" pitchFamily="34" charset="-120"/>
              </a:rPr>
              <a:t>Members</a:t>
            </a:r>
            <a:endParaRPr lang="en-US" sz="850" dirty="0"/>
          </a:p>
        </p:txBody>
      </p:sp>
      <p:sp>
        <p:nvSpPr>
          <p:cNvPr id="17" name="Shape 13"/>
          <p:cNvSpPr/>
          <p:nvPr/>
        </p:nvSpPr>
        <p:spPr>
          <a:xfrm>
            <a:off x="5833872" y="2468880"/>
            <a:ext cx="2688336" cy="10973"/>
          </a:xfrm>
          <a:prstGeom prst="rect">
            <a:avLst/>
          </a:prstGeom>
          <a:solidFill>
            <a:srgbClr val="E0A106">
              <a:alpha val="30000"/>
            </a:srgbClr>
          </a:solidFill>
          <a:ln w="12700">
            <a:solidFill>
              <a:srgbClr val="E0A106"/>
            </a:solidFill>
            <a:prstDash val="solid"/>
          </a:ln>
        </p:spPr>
        <p:txBody>
          <a:bodyPr/>
          <a:lstStyle/>
          <a:p>
            <a:endParaRPr lang="de-FR"/>
          </a:p>
        </p:txBody>
      </p:sp>
      <p:sp>
        <p:nvSpPr>
          <p:cNvPr id="18" name="Text 14"/>
          <p:cNvSpPr/>
          <p:nvPr/>
        </p:nvSpPr>
        <p:spPr>
          <a:xfrm>
            <a:off x="5797296" y="2651760"/>
            <a:ext cx="1005840" cy="475488"/>
          </a:xfrm>
          <a:prstGeom prst="rect">
            <a:avLst/>
          </a:prstGeom>
          <a:noFill/>
          <a:ln/>
        </p:spPr>
        <p:txBody>
          <a:bodyPr wrap="square" lIns="0" tIns="0" rIns="0" bIns="0" rtlCol="0" anchor="ctr"/>
          <a:lstStyle/>
          <a:p>
            <a:pPr marL="0" indent="0" algn="ctr">
              <a:buNone/>
            </a:pPr>
            <a:r>
              <a:rPr lang="en-US" sz="2400" b="1" dirty="0">
                <a:solidFill>
                  <a:srgbClr val="E0A106"/>
                </a:solidFill>
                <a:latin typeface="Arial Black" pitchFamily="34" charset="0"/>
                <a:ea typeface="Arial Black" pitchFamily="34" charset="-122"/>
                <a:cs typeface="Arial Black" pitchFamily="34" charset="-120"/>
              </a:rPr>
              <a:t>133+</a:t>
            </a:r>
            <a:endParaRPr lang="en-US" sz="2400" dirty="0"/>
          </a:p>
        </p:txBody>
      </p:sp>
      <p:sp>
        <p:nvSpPr>
          <p:cNvPr id="19" name="Text 15"/>
          <p:cNvSpPr/>
          <p:nvPr/>
        </p:nvSpPr>
        <p:spPr>
          <a:xfrm>
            <a:off x="6821424" y="2651760"/>
            <a:ext cx="1874520" cy="475488"/>
          </a:xfrm>
          <a:prstGeom prst="rect">
            <a:avLst/>
          </a:prstGeom>
          <a:noFill/>
          <a:ln/>
        </p:spPr>
        <p:txBody>
          <a:bodyPr wrap="square" lIns="0" tIns="0" rIns="0" bIns="0" rtlCol="0" anchor="ctr"/>
          <a:lstStyle/>
          <a:p>
            <a:pPr marL="0" indent="0" algn="l">
              <a:buNone/>
            </a:pPr>
            <a:r>
              <a:rPr lang="en-US" sz="850" dirty="0">
                <a:solidFill>
                  <a:srgbClr val="FFFFFF"/>
                </a:solidFill>
                <a:latin typeface="Arial" pitchFamily="34" charset="0"/>
                <a:ea typeface="Arial" pitchFamily="34" charset="-122"/>
                <a:cs typeface="Arial" pitchFamily="34" charset="-120"/>
              </a:rPr>
              <a:t>Community</a:t>
            </a:r>
            <a:endParaRPr lang="en-US" sz="850" dirty="0"/>
          </a:p>
          <a:p>
            <a:pPr marL="0" indent="0" algn="l">
              <a:buNone/>
            </a:pPr>
            <a:r>
              <a:rPr lang="en-US" sz="850" dirty="0">
                <a:solidFill>
                  <a:srgbClr val="FFFFFF"/>
                </a:solidFill>
                <a:latin typeface="Arial" pitchFamily="34" charset="0"/>
                <a:ea typeface="Arial" pitchFamily="34" charset="-122"/>
                <a:cs typeface="Arial" pitchFamily="34" charset="-120"/>
              </a:rPr>
              <a:t>Members</a:t>
            </a:r>
            <a:endParaRPr lang="en-US" sz="850" dirty="0"/>
          </a:p>
        </p:txBody>
      </p:sp>
      <p:sp>
        <p:nvSpPr>
          <p:cNvPr id="20" name="Shape 16"/>
          <p:cNvSpPr/>
          <p:nvPr/>
        </p:nvSpPr>
        <p:spPr>
          <a:xfrm>
            <a:off x="5833872" y="3182112"/>
            <a:ext cx="2688336" cy="10973"/>
          </a:xfrm>
          <a:prstGeom prst="rect">
            <a:avLst/>
          </a:prstGeom>
          <a:solidFill>
            <a:srgbClr val="E0A106">
              <a:alpha val="30000"/>
            </a:srgbClr>
          </a:solidFill>
          <a:ln w="12700">
            <a:solidFill>
              <a:srgbClr val="E0A106"/>
            </a:solidFill>
            <a:prstDash val="solid"/>
          </a:ln>
        </p:spPr>
        <p:txBody>
          <a:bodyPr/>
          <a:lstStyle/>
          <a:p>
            <a:endParaRPr lang="de-FR"/>
          </a:p>
        </p:txBody>
      </p:sp>
      <p:sp>
        <p:nvSpPr>
          <p:cNvPr id="21" name="Text 17"/>
          <p:cNvSpPr/>
          <p:nvPr/>
        </p:nvSpPr>
        <p:spPr>
          <a:xfrm>
            <a:off x="5797296" y="3364992"/>
            <a:ext cx="1005840" cy="475488"/>
          </a:xfrm>
          <a:prstGeom prst="rect">
            <a:avLst/>
          </a:prstGeom>
          <a:noFill/>
          <a:ln/>
        </p:spPr>
        <p:txBody>
          <a:bodyPr wrap="square" lIns="0" tIns="0" rIns="0" bIns="0" rtlCol="0" anchor="ctr"/>
          <a:lstStyle/>
          <a:p>
            <a:pPr marL="0" indent="0" algn="ctr">
              <a:buNone/>
            </a:pPr>
            <a:r>
              <a:rPr lang="en-US" sz="3000" b="1" dirty="0">
                <a:solidFill>
                  <a:srgbClr val="E0A106"/>
                </a:solidFill>
                <a:latin typeface="Arial Black" pitchFamily="34" charset="0"/>
                <a:ea typeface="Arial Black" pitchFamily="34" charset="-122"/>
                <a:cs typeface="Arial Black" pitchFamily="34" charset="-120"/>
              </a:rPr>
              <a:t>10+</a:t>
            </a:r>
            <a:endParaRPr lang="en-US" sz="3000" dirty="0"/>
          </a:p>
        </p:txBody>
      </p:sp>
      <p:sp>
        <p:nvSpPr>
          <p:cNvPr id="22" name="Text 18"/>
          <p:cNvSpPr/>
          <p:nvPr/>
        </p:nvSpPr>
        <p:spPr>
          <a:xfrm>
            <a:off x="6821424" y="3364992"/>
            <a:ext cx="1874520" cy="475488"/>
          </a:xfrm>
          <a:prstGeom prst="rect">
            <a:avLst/>
          </a:prstGeom>
          <a:noFill/>
          <a:ln/>
        </p:spPr>
        <p:txBody>
          <a:bodyPr wrap="square" lIns="0" tIns="0" rIns="0" bIns="0" rtlCol="0" anchor="ctr"/>
          <a:lstStyle/>
          <a:p>
            <a:pPr marL="0" indent="0" algn="l">
              <a:buNone/>
            </a:pPr>
            <a:r>
              <a:rPr lang="en-US" sz="850" dirty="0">
                <a:solidFill>
                  <a:srgbClr val="FFFFFF"/>
                </a:solidFill>
                <a:latin typeface="Arial" pitchFamily="34" charset="0"/>
                <a:ea typeface="Arial" pitchFamily="34" charset="-122"/>
                <a:cs typeface="Arial" pitchFamily="34" charset="-120"/>
              </a:rPr>
              <a:t>Nationalities</a:t>
            </a:r>
            <a:endParaRPr lang="en-US" sz="850" dirty="0"/>
          </a:p>
          <a:p>
            <a:pPr marL="0" indent="0" algn="l">
              <a:buNone/>
            </a:pPr>
            <a:r>
              <a:rPr lang="en-US" sz="850" dirty="0">
                <a:solidFill>
                  <a:srgbClr val="FFFFFF"/>
                </a:solidFill>
                <a:latin typeface="Arial" pitchFamily="34" charset="0"/>
                <a:ea typeface="Arial" pitchFamily="34" charset="-122"/>
                <a:cs typeface="Arial" pitchFamily="34" charset="-120"/>
              </a:rPr>
              <a:t>in our squad</a:t>
            </a:r>
            <a:endParaRPr lang="en-US" sz="850" dirty="0"/>
          </a:p>
        </p:txBody>
      </p:sp>
      <p:sp>
        <p:nvSpPr>
          <p:cNvPr id="23" name="Text 19"/>
          <p:cNvSpPr/>
          <p:nvPr/>
        </p:nvSpPr>
        <p:spPr>
          <a:xfrm>
            <a:off x="347472" y="4462272"/>
            <a:ext cx="8449056" cy="438912"/>
          </a:xfrm>
          <a:prstGeom prst="rect">
            <a:avLst/>
          </a:prstGeom>
          <a:noFill/>
          <a:ln/>
        </p:spPr>
        <p:txBody>
          <a:bodyPr wrap="square" lIns="0" tIns="0" rIns="0" bIns="0" rtlCol="0" anchor="ctr"/>
          <a:lstStyle/>
          <a:p>
            <a:pPr marL="0" indent="0" algn="ctr">
              <a:buNone/>
            </a:pPr>
            <a:r>
              <a:rPr lang="en-US" sz="950" i="1" dirty="0">
                <a:solidFill>
                  <a:srgbClr val="8899AA"/>
                </a:solidFill>
                <a:latin typeface="Arial" pitchFamily="34" charset="0"/>
                <a:ea typeface="Arial" pitchFamily="34" charset="-122"/>
                <a:cs typeface="Arial" pitchFamily="34" charset="-120"/>
              </a:rPr>
              <a:t>What started with seven friends has become one of Berlin's newest football clubs.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628"/>
        </a:solidFill>
        <a:effectLst/>
      </p:bgPr>
    </p:bg>
    <p:spTree>
      <p:nvGrpSpPr>
        <p:cNvPr id="1" name=""/>
        <p:cNvGrpSpPr/>
        <p:nvPr/>
      </p:nvGrpSpPr>
      <p:grpSpPr>
        <a:xfrm>
          <a:off x="0" y="0"/>
          <a:ext cx="0" cy="0"/>
          <a:chOff x="0" y="0"/>
          <a:chExt cx="0" cy="0"/>
        </a:xfrm>
      </p:grpSpPr>
      <p:pic>
        <p:nvPicPr>
          <p:cNvPr id="2" name="Image 0" descr="/sessions/ecstatic-optimistic-johnson/mnt/outputs/trophy_dark.jpg"/>
          <p:cNvPicPr>
            <a:picLocks noChangeAspect="1"/>
          </p:cNvPicPr>
          <p:nvPr/>
        </p:nvPicPr>
        <p:blipFill>
          <a:blip r:embed="rId3">
            <a:alphaModFix amt="32000"/>
          </a:blip>
          <a:stretch>
            <a:fillRect/>
          </a:stretch>
        </p:blipFill>
        <p:spPr>
          <a:xfrm>
            <a:off x="4754880" y="0"/>
            <a:ext cx="4389120" cy="5143500"/>
          </a:xfrm>
          <a:prstGeom prst="rect">
            <a:avLst/>
          </a:prstGeom>
        </p:spPr>
      </p:pic>
      <p:sp>
        <p:nvSpPr>
          <p:cNvPr id="3" name="Text 0"/>
          <p:cNvSpPr/>
          <p:nvPr/>
        </p:nvSpPr>
        <p:spPr>
          <a:xfrm>
            <a:off x="347472" y="256032"/>
            <a:ext cx="8449056" cy="329184"/>
          </a:xfrm>
          <a:prstGeom prst="rect">
            <a:avLst/>
          </a:prstGeom>
          <a:noFill/>
          <a:ln/>
        </p:spPr>
        <p:txBody>
          <a:bodyPr wrap="square" lIns="0" tIns="0" rIns="0" bIns="0" rtlCol="0" anchor="ctr"/>
          <a:lstStyle/>
          <a:p>
            <a:pPr marL="0" indent="0" algn="l">
              <a:buNone/>
            </a:pPr>
            <a:r>
              <a:rPr lang="en-US" sz="900" b="1" kern="0" spc="400" dirty="0">
                <a:solidFill>
                  <a:srgbClr val="E0A106"/>
                </a:solidFill>
                <a:latin typeface="Arial" pitchFamily="34" charset="0"/>
                <a:ea typeface="Arial" pitchFamily="34" charset="-122"/>
                <a:cs typeface="Arial" pitchFamily="34" charset="-120"/>
              </a:rPr>
              <a:t>WHAT WE HAVE ACHIEVED</a:t>
            </a:r>
            <a:endParaRPr lang="en-US" sz="900" dirty="0"/>
          </a:p>
        </p:txBody>
      </p:sp>
      <p:sp>
        <p:nvSpPr>
          <p:cNvPr id="4" name="Text 1"/>
          <p:cNvSpPr/>
          <p:nvPr/>
        </p:nvSpPr>
        <p:spPr>
          <a:xfrm>
            <a:off x="347472" y="548640"/>
            <a:ext cx="6858000" cy="347472"/>
          </a:xfrm>
          <a:prstGeom prst="rect">
            <a:avLst/>
          </a:prstGeom>
          <a:noFill/>
          <a:ln/>
        </p:spPr>
        <p:txBody>
          <a:bodyPr wrap="square" lIns="0" tIns="0" rIns="0" bIns="0" rtlCol="0" anchor="ctr"/>
          <a:lstStyle/>
          <a:p>
            <a:pPr marL="0" indent="0" algn="l">
              <a:buNone/>
            </a:pPr>
            <a:r>
              <a:rPr lang="en-US" sz="1800" dirty="0">
                <a:solidFill>
                  <a:srgbClr val="FFFFFF"/>
                </a:solidFill>
                <a:latin typeface="Arial" pitchFamily="34" charset="0"/>
                <a:ea typeface="Arial" pitchFamily="34" charset="-122"/>
                <a:cs typeface="Arial" pitchFamily="34" charset="-120"/>
              </a:rPr>
              <a:t>From a group of friends to a fully registered Berlin sports club.</a:t>
            </a:r>
            <a:endParaRPr lang="en-US" sz="1800" dirty="0"/>
          </a:p>
        </p:txBody>
      </p:sp>
      <p:sp>
        <p:nvSpPr>
          <p:cNvPr id="5" name="Shape 2"/>
          <p:cNvSpPr/>
          <p:nvPr/>
        </p:nvSpPr>
        <p:spPr>
          <a:xfrm>
            <a:off x="347472" y="969264"/>
            <a:ext cx="8449056" cy="22860"/>
          </a:xfrm>
          <a:prstGeom prst="rect">
            <a:avLst/>
          </a:prstGeom>
          <a:solidFill>
            <a:srgbClr val="E0A106">
              <a:alpha val="60000"/>
            </a:srgbClr>
          </a:solidFill>
          <a:ln w="12700">
            <a:solidFill>
              <a:srgbClr val="E0A106"/>
            </a:solidFill>
            <a:prstDash val="solid"/>
          </a:ln>
        </p:spPr>
        <p:txBody>
          <a:bodyPr/>
          <a:lstStyle/>
          <a:p>
            <a:endParaRPr lang="de-FR"/>
          </a:p>
        </p:txBody>
      </p:sp>
      <p:sp>
        <p:nvSpPr>
          <p:cNvPr id="6" name="Shape 3"/>
          <p:cNvSpPr/>
          <p:nvPr/>
        </p:nvSpPr>
        <p:spPr>
          <a:xfrm>
            <a:off x="347472" y="1078992"/>
            <a:ext cx="2029968" cy="3456432"/>
          </a:xfrm>
          <a:prstGeom prst="roundRect">
            <a:avLst>
              <a:gd name="adj" fmla="val 3153"/>
            </a:avLst>
          </a:prstGeom>
          <a:solidFill>
            <a:srgbClr val="0D1F3C"/>
          </a:solidFill>
          <a:ln w="762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pic>
        <p:nvPicPr>
          <p:cNvPr id="7" name="Image 1" descr="preencoded.png"/>
          <p:cNvPicPr>
            <a:picLocks noChangeAspect="1"/>
          </p:cNvPicPr>
          <p:nvPr/>
        </p:nvPicPr>
        <p:blipFill>
          <a:blip r:embed="rId4"/>
          <a:stretch>
            <a:fillRect/>
          </a:stretch>
        </p:blipFill>
        <p:spPr>
          <a:xfrm>
            <a:off x="512064" y="1243584"/>
            <a:ext cx="365760" cy="365760"/>
          </a:xfrm>
          <a:prstGeom prst="rect">
            <a:avLst/>
          </a:prstGeom>
        </p:spPr>
      </p:pic>
      <p:sp>
        <p:nvSpPr>
          <p:cNvPr id="8" name="Text 4"/>
          <p:cNvSpPr/>
          <p:nvPr/>
        </p:nvSpPr>
        <p:spPr>
          <a:xfrm>
            <a:off x="932688" y="1243584"/>
            <a:ext cx="1353312" cy="365760"/>
          </a:xfrm>
          <a:prstGeom prst="rect">
            <a:avLst/>
          </a:prstGeom>
          <a:noFill/>
          <a:ln/>
        </p:spPr>
        <p:txBody>
          <a:bodyPr wrap="square" lIns="0" tIns="0" rIns="0" bIns="0" rtlCol="0" anchor="ctr"/>
          <a:lstStyle/>
          <a:p>
            <a:pPr marL="0" indent="0" algn="l">
              <a:buNone/>
            </a:pPr>
            <a:r>
              <a:rPr lang="en-US" sz="900" b="1" kern="0" spc="150" dirty="0">
                <a:solidFill>
                  <a:srgbClr val="E0A106"/>
                </a:solidFill>
                <a:latin typeface="Arial" pitchFamily="34" charset="0"/>
                <a:ea typeface="Arial" pitchFamily="34" charset="-122"/>
                <a:cs typeface="Arial" pitchFamily="34" charset="-120"/>
              </a:rPr>
              <a:t>FOOTBALL</a:t>
            </a:r>
            <a:endParaRPr lang="en-US" sz="900" dirty="0"/>
          </a:p>
        </p:txBody>
      </p:sp>
      <p:sp>
        <p:nvSpPr>
          <p:cNvPr id="9" name="Shape 5"/>
          <p:cNvSpPr/>
          <p:nvPr/>
        </p:nvSpPr>
        <p:spPr>
          <a:xfrm>
            <a:off x="475488" y="1664208"/>
            <a:ext cx="1773936" cy="16459"/>
          </a:xfrm>
          <a:prstGeom prst="rect">
            <a:avLst/>
          </a:prstGeom>
          <a:solidFill>
            <a:srgbClr val="E0A106">
              <a:alpha val="45000"/>
            </a:srgbClr>
          </a:solidFill>
          <a:ln w="12700">
            <a:solidFill>
              <a:srgbClr val="E0A106"/>
            </a:solidFill>
            <a:prstDash val="solid"/>
          </a:ln>
        </p:spPr>
        <p:txBody>
          <a:bodyPr/>
          <a:lstStyle/>
          <a:p>
            <a:endParaRPr lang="de-FR"/>
          </a:p>
        </p:txBody>
      </p:sp>
      <p:pic>
        <p:nvPicPr>
          <p:cNvPr id="10" name="Image 2" descr="preencoded.png"/>
          <p:cNvPicPr>
            <a:picLocks noChangeAspect="1"/>
          </p:cNvPicPr>
          <p:nvPr/>
        </p:nvPicPr>
        <p:blipFill>
          <a:blip r:embed="rId5"/>
          <a:stretch>
            <a:fillRect/>
          </a:stretch>
        </p:blipFill>
        <p:spPr>
          <a:xfrm>
            <a:off x="475488" y="1792224"/>
            <a:ext cx="182880" cy="182880"/>
          </a:xfrm>
          <a:prstGeom prst="rect">
            <a:avLst/>
          </a:prstGeom>
        </p:spPr>
      </p:pic>
      <p:sp>
        <p:nvSpPr>
          <p:cNvPr id="11" name="Text 6"/>
          <p:cNvSpPr/>
          <p:nvPr/>
        </p:nvSpPr>
        <p:spPr>
          <a:xfrm>
            <a:off x="694944" y="1773936"/>
            <a:ext cx="1572768" cy="420624"/>
          </a:xfrm>
          <a:prstGeom prst="rect">
            <a:avLst/>
          </a:prstGeom>
          <a:noFill/>
          <a:ln/>
        </p:spPr>
        <p:txBody>
          <a:bodyPr wrap="square" lIns="0" tIns="0" rIns="0" bIns="0" rtlCol="0" anchor="t"/>
          <a:lstStyle/>
          <a:p>
            <a:pPr marL="0" indent="0" algn="l">
              <a:buNone/>
            </a:pPr>
            <a:r>
              <a:rPr lang="en-US" sz="750" dirty="0">
                <a:solidFill>
                  <a:srgbClr val="FFFFFF"/>
                </a:solidFill>
                <a:latin typeface="Arial" pitchFamily="34" charset="0"/>
                <a:ea typeface="Arial" pitchFamily="34" charset="-122"/>
                <a:cs typeface="Arial" pitchFamily="34" charset="-120"/>
              </a:rPr>
              <a:t>First men's team established</a:t>
            </a:r>
            <a:endParaRPr lang="en-US" sz="750" dirty="0"/>
          </a:p>
        </p:txBody>
      </p:sp>
      <p:pic>
        <p:nvPicPr>
          <p:cNvPr id="12" name="Image 3" descr="preencoded.png"/>
          <p:cNvPicPr>
            <a:picLocks noChangeAspect="1"/>
          </p:cNvPicPr>
          <p:nvPr/>
        </p:nvPicPr>
        <p:blipFill>
          <a:blip r:embed="rId5"/>
          <a:stretch>
            <a:fillRect/>
          </a:stretch>
        </p:blipFill>
        <p:spPr>
          <a:xfrm>
            <a:off x="475488" y="2249424"/>
            <a:ext cx="182880" cy="182880"/>
          </a:xfrm>
          <a:prstGeom prst="rect">
            <a:avLst/>
          </a:prstGeom>
        </p:spPr>
      </p:pic>
      <p:sp>
        <p:nvSpPr>
          <p:cNvPr id="13" name="Text 7"/>
          <p:cNvSpPr/>
          <p:nvPr/>
        </p:nvSpPr>
        <p:spPr>
          <a:xfrm>
            <a:off x="694944" y="2231136"/>
            <a:ext cx="1572768" cy="420624"/>
          </a:xfrm>
          <a:prstGeom prst="rect">
            <a:avLst/>
          </a:prstGeom>
          <a:noFill/>
          <a:ln/>
        </p:spPr>
        <p:txBody>
          <a:bodyPr wrap="square" lIns="0" tIns="0" rIns="0" bIns="0" rtlCol="0" anchor="t"/>
          <a:lstStyle/>
          <a:p>
            <a:pPr marL="0" indent="0" algn="l">
              <a:buNone/>
            </a:pPr>
            <a:r>
              <a:rPr lang="en-US" sz="750" dirty="0">
                <a:solidFill>
                  <a:srgbClr val="FFFFFF"/>
                </a:solidFill>
                <a:latin typeface="Arial" pitchFamily="34" charset="0"/>
                <a:ea typeface="Arial" pitchFamily="34" charset="-122"/>
                <a:cs typeface="Arial" pitchFamily="34" charset="-120"/>
              </a:rPr>
              <a:t>Symposium Mboa 2023 Finalist</a:t>
            </a:r>
            <a:endParaRPr lang="en-US" sz="750" dirty="0"/>
          </a:p>
        </p:txBody>
      </p:sp>
      <p:pic>
        <p:nvPicPr>
          <p:cNvPr id="14" name="Image 4" descr="preencoded.png"/>
          <p:cNvPicPr>
            <a:picLocks noChangeAspect="1"/>
          </p:cNvPicPr>
          <p:nvPr/>
        </p:nvPicPr>
        <p:blipFill>
          <a:blip r:embed="rId5"/>
          <a:stretch>
            <a:fillRect/>
          </a:stretch>
        </p:blipFill>
        <p:spPr>
          <a:xfrm>
            <a:off x="475488" y="2706624"/>
            <a:ext cx="182880" cy="182880"/>
          </a:xfrm>
          <a:prstGeom prst="rect">
            <a:avLst/>
          </a:prstGeom>
        </p:spPr>
      </p:pic>
      <p:sp>
        <p:nvSpPr>
          <p:cNvPr id="15" name="Text 8"/>
          <p:cNvSpPr/>
          <p:nvPr/>
        </p:nvSpPr>
        <p:spPr>
          <a:xfrm>
            <a:off x="694944" y="2688336"/>
            <a:ext cx="1572768" cy="420624"/>
          </a:xfrm>
          <a:prstGeom prst="rect">
            <a:avLst/>
          </a:prstGeom>
          <a:noFill/>
          <a:ln/>
        </p:spPr>
        <p:txBody>
          <a:bodyPr wrap="square" lIns="0" tIns="0" rIns="0" bIns="0" rtlCol="0" anchor="t"/>
          <a:lstStyle/>
          <a:p>
            <a:pPr marL="0" indent="0" algn="l">
              <a:buNone/>
            </a:pPr>
            <a:r>
              <a:rPr lang="en-US" sz="750" dirty="0">
                <a:solidFill>
                  <a:srgbClr val="FFFFFF"/>
                </a:solidFill>
                <a:latin typeface="Arial" pitchFamily="34" charset="0"/>
                <a:ea typeface="Arial" pitchFamily="34" charset="-122"/>
                <a:cs typeface="Arial" pitchFamily="34" charset="-120"/>
              </a:rPr>
              <a:t>Tournoi Intégration Berlin 2026</a:t>
            </a:r>
            <a:endParaRPr lang="en-US" sz="750" dirty="0"/>
          </a:p>
        </p:txBody>
      </p:sp>
      <p:pic>
        <p:nvPicPr>
          <p:cNvPr id="16" name="Image 5" descr="preencoded.png"/>
          <p:cNvPicPr>
            <a:picLocks noChangeAspect="1"/>
          </p:cNvPicPr>
          <p:nvPr/>
        </p:nvPicPr>
        <p:blipFill>
          <a:blip r:embed="rId5"/>
          <a:stretch>
            <a:fillRect/>
          </a:stretch>
        </p:blipFill>
        <p:spPr>
          <a:xfrm>
            <a:off x="475488" y="3163824"/>
            <a:ext cx="182880" cy="182880"/>
          </a:xfrm>
          <a:prstGeom prst="rect">
            <a:avLst/>
          </a:prstGeom>
        </p:spPr>
      </p:pic>
      <p:sp>
        <p:nvSpPr>
          <p:cNvPr id="17" name="Text 9"/>
          <p:cNvSpPr/>
          <p:nvPr/>
        </p:nvSpPr>
        <p:spPr>
          <a:xfrm>
            <a:off x="694944" y="3145536"/>
            <a:ext cx="1572768" cy="420624"/>
          </a:xfrm>
          <a:prstGeom prst="rect">
            <a:avLst/>
          </a:prstGeom>
          <a:noFill/>
          <a:ln/>
        </p:spPr>
        <p:txBody>
          <a:bodyPr wrap="square" lIns="0" tIns="0" rIns="0" bIns="0" rtlCol="0" anchor="t"/>
          <a:lstStyle/>
          <a:p>
            <a:pPr marL="0" indent="0" algn="l">
              <a:buNone/>
            </a:pPr>
            <a:r>
              <a:rPr lang="en-US" sz="750" dirty="0">
                <a:solidFill>
                  <a:srgbClr val="FFFFFF"/>
                </a:solidFill>
                <a:latin typeface="Arial" pitchFamily="34" charset="0"/>
                <a:ea typeface="Arial" pitchFamily="34" charset="-122"/>
                <a:cs typeface="Arial" pitchFamily="34" charset="-120"/>
              </a:rPr>
              <a:t>QF — Symposium Mboa 2026</a:t>
            </a:r>
            <a:endParaRPr lang="en-US" sz="750" dirty="0"/>
          </a:p>
        </p:txBody>
      </p:sp>
      <p:pic>
        <p:nvPicPr>
          <p:cNvPr id="18" name="Image 6" descr="preencoded.png"/>
          <p:cNvPicPr>
            <a:picLocks noChangeAspect="1"/>
          </p:cNvPicPr>
          <p:nvPr/>
        </p:nvPicPr>
        <p:blipFill>
          <a:blip r:embed="rId5"/>
          <a:stretch>
            <a:fillRect/>
          </a:stretch>
        </p:blipFill>
        <p:spPr>
          <a:xfrm>
            <a:off x="475488" y="3621024"/>
            <a:ext cx="182880" cy="182880"/>
          </a:xfrm>
          <a:prstGeom prst="rect">
            <a:avLst/>
          </a:prstGeom>
        </p:spPr>
      </p:pic>
      <p:sp>
        <p:nvSpPr>
          <p:cNvPr id="19" name="Text 10"/>
          <p:cNvSpPr/>
          <p:nvPr/>
        </p:nvSpPr>
        <p:spPr>
          <a:xfrm>
            <a:off x="694944" y="3602736"/>
            <a:ext cx="1572768" cy="420624"/>
          </a:xfrm>
          <a:prstGeom prst="rect">
            <a:avLst/>
          </a:prstGeom>
          <a:noFill/>
          <a:ln/>
        </p:spPr>
        <p:txBody>
          <a:bodyPr wrap="square" lIns="0" tIns="0" rIns="0" bIns="0" rtlCol="0" anchor="t"/>
          <a:lstStyle/>
          <a:p>
            <a:pPr marL="0" indent="0" algn="l">
              <a:buNone/>
            </a:pPr>
            <a:r>
              <a:rPr lang="en-US" sz="750" dirty="0">
                <a:solidFill>
                  <a:srgbClr val="FFFFFF"/>
                </a:solidFill>
                <a:latin typeface="Arial" pitchFamily="34" charset="0"/>
                <a:ea typeface="Arial" pitchFamily="34" charset="-122"/>
                <a:cs typeface="Arial" pitchFamily="34" charset="-120"/>
              </a:rPr>
              <a:t>QF — African Cup Berlin 2026</a:t>
            </a:r>
            <a:endParaRPr lang="en-US" sz="750" dirty="0"/>
          </a:p>
        </p:txBody>
      </p:sp>
      <p:pic>
        <p:nvPicPr>
          <p:cNvPr id="20" name="Image 7" descr="preencoded.png"/>
          <p:cNvPicPr>
            <a:picLocks noChangeAspect="1"/>
          </p:cNvPicPr>
          <p:nvPr/>
        </p:nvPicPr>
        <p:blipFill>
          <a:blip r:embed="rId5"/>
          <a:stretch>
            <a:fillRect/>
          </a:stretch>
        </p:blipFill>
        <p:spPr>
          <a:xfrm>
            <a:off x="475488" y="4078224"/>
            <a:ext cx="182880" cy="182880"/>
          </a:xfrm>
          <a:prstGeom prst="rect">
            <a:avLst/>
          </a:prstGeom>
        </p:spPr>
      </p:pic>
      <p:sp>
        <p:nvSpPr>
          <p:cNvPr id="21" name="Text 11"/>
          <p:cNvSpPr/>
          <p:nvPr/>
        </p:nvSpPr>
        <p:spPr>
          <a:xfrm>
            <a:off x="694944" y="4059936"/>
            <a:ext cx="1572768" cy="420624"/>
          </a:xfrm>
          <a:prstGeom prst="rect">
            <a:avLst/>
          </a:prstGeom>
          <a:noFill/>
          <a:ln/>
        </p:spPr>
        <p:txBody>
          <a:bodyPr wrap="square" lIns="0" tIns="0" rIns="0" bIns="0" rtlCol="0" anchor="t"/>
          <a:lstStyle/>
          <a:p>
            <a:pPr marL="0" indent="0" algn="l">
              <a:buNone/>
            </a:pPr>
            <a:r>
              <a:rPr lang="en-US" sz="750" dirty="0">
                <a:solidFill>
                  <a:srgbClr val="FFFFFF"/>
                </a:solidFill>
                <a:latin typeface="Arial" pitchFamily="34" charset="0"/>
                <a:ea typeface="Arial" pitchFamily="34" charset="-122"/>
                <a:cs typeface="Arial" pitchFamily="34" charset="-120"/>
              </a:rPr>
              <a:t>DFBnet registration underway</a:t>
            </a:r>
            <a:endParaRPr lang="en-US" sz="750" dirty="0"/>
          </a:p>
        </p:txBody>
      </p:sp>
      <p:sp>
        <p:nvSpPr>
          <p:cNvPr id="22" name="Shape 12"/>
          <p:cNvSpPr/>
          <p:nvPr/>
        </p:nvSpPr>
        <p:spPr>
          <a:xfrm>
            <a:off x="2450592" y="1078992"/>
            <a:ext cx="2029968" cy="3456432"/>
          </a:xfrm>
          <a:prstGeom prst="roundRect">
            <a:avLst>
              <a:gd name="adj" fmla="val 3153"/>
            </a:avLst>
          </a:prstGeom>
          <a:solidFill>
            <a:srgbClr val="0D1F3C"/>
          </a:solidFill>
          <a:ln w="762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pic>
        <p:nvPicPr>
          <p:cNvPr id="23" name="Image 8" descr="preencoded.png"/>
          <p:cNvPicPr>
            <a:picLocks noChangeAspect="1"/>
          </p:cNvPicPr>
          <p:nvPr/>
        </p:nvPicPr>
        <p:blipFill>
          <a:blip r:embed="rId6"/>
          <a:stretch>
            <a:fillRect/>
          </a:stretch>
        </p:blipFill>
        <p:spPr>
          <a:xfrm>
            <a:off x="2615184" y="1243584"/>
            <a:ext cx="365760" cy="365760"/>
          </a:xfrm>
          <a:prstGeom prst="rect">
            <a:avLst/>
          </a:prstGeom>
        </p:spPr>
      </p:pic>
      <p:sp>
        <p:nvSpPr>
          <p:cNvPr id="24" name="Text 13"/>
          <p:cNvSpPr/>
          <p:nvPr/>
        </p:nvSpPr>
        <p:spPr>
          <a:xfrm>
            <a:off x="3035808" y="1243584"/>
            <a:ext cx="1353312" cy="365760"/>
          </a:xfrm>
          <a:prstGeom prst="rect">
            <a:avLst/>
          </a:prstGeom>
          <a:noFill/>
          <a:ln/>
        </p:spPr>
        <p:txBody>
          <a:bodyPr wrap="square" lIns="0" tIns="0" rIns="0" bIns="0" rtlCol="0" anchor="ctr"/>
          <a:lstStyle/>
          <a:p>
            <a:pPr marL="0" indent="0" algn="l">
              <a:buNone/>
            </a:pPr>
            <a:r>
              <a:rPr lang="en-US" sz="900" b="1" kern="0" spc="150" dirty="0">
                <a:solidFill>
                  <a:srgbClr val="E0A106"/>
                </a:solidFill>
                <a:latin typeface="Arial" pitchFamily="34" charset="0"/>
                <a:ea typeface="Arial" pitchFamily="34" charset="-122"/>
                <a:cs typeface="Arial" pitchFamily="34" charset="-120"/>
              </a:rPr>
              <a:t>CLUB DEVELOPMENT</a:t>
            </a:r>
            <a:endParaRPr lang="en-US" sz="900" dirty="0"/>
          </a:p>
        </p:txBody>
      </p:sp>
      <p:sp>
        <p:nvSpPr>
          <p:cNvPr id="25" name="Shape 14"/>
          <p:cNvSpPr/>
          <p:nvPr/>
        </p:nvSpPr>
        <p:spPr>
          <a:xfrm>
            <a:off x="2578608" y="1664208"/>
            <a:ext cx="1773936" cy="16459"/>
          </a:xfrm>
          <a:prstGeom prst="rect">
            <a:avLst/>
          </a:prstGeom>
          <a:solidFill>
            <a:srgbClr val="E0A106">
              <a:alpha val="45000"/>
            </a:srgbClr>
          </a:solidFill>
          <a:ln w="12700">
            <a:solidFill>
              <a:srgbClr val="E0A106"/>
            </a:solidFill>
            <a:prstDash val="solid"/>
          </a:ln>
        </p:spPr>
        <p:txBody>
          <a:bodyPr/>
          <a:lstStyle/>
          <a:p>
            <a:endParaRPr lang="de-FR"/>
          </a:p>
        </p:txBody>
      </p:sp>
      <p:pic>
        <p:nvPicPr>
          <p:cNvPr id="26" name="Image 9" descr="preencoded.png"/>
          <p:cNvPicPr>
            <a:picLocks noChangeAspect="1"/>
          </p:cNvPicPr>
          <p:nvPr/>
        </p:nvPicPr>
        <p:blipFill>
          <a:blip r:embed="rId5"/>
          <a:stretch>
            <a:fillRect/>
          </a:stretch>
        </p:blipFill>
        <p:spPr>
          <a:xfrm>
            <a:off x="2578608" y="1792224"/>
            <a:ext cx="219456" cy="219456"/>
          </a:xfrm>
          <a:prstGeom prst="rect">
            <a:avLst/>
          </a:prstGeom>
        </p:spPr>
      </p:pic>
      <p:sp>
        <p:nvSpPr>
          <p:cNvPr id="27" name="Text 15"/>
          <p:cNvSpPr/>
          <p:nvPr/>
        </p:nvSpPr>
        <p:spPr>
          <a:xfrm>
            <a:off x="2798064" y="177393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Registered association (e.V.)</a:t>
            </a:r>
            <a:endParaRPr lang="en-US" sz="850" dirty="0"/>
          </a:p>
        </p:txBody>
      </p:sp>
      <p:pic>
        <p:nvPicPr>
          <p:cNvPr id="28" name="Image 10" descr="preencoded.png"/>
          <p:cNvPicPr>
            <a:picLocks noChangeAspect="1"/>
          </p:cNvPicPr>
          <p:nvPr/>
        </p:nvPicPr>
        <p:blipFill>
          <a:blip r:embed="rId5"/>
          <a:stretch>
            <a:fillRect/>
          </a:stretch>
        </p:blipFill>
        <p:spPr>
          <a:xfrm>
            <a:off x="2578608" y="2432304"/>
            <a:ext cx="219456" cy="219456"/>
          </a:xfrm>
          <a:prstGeom prst="rect">
            <a:avLst/>
          </a:prstGeom>
        </p:spPr>
      </p:pic>
      <p:sp>
        <p:nvSpPr>
          <p:cNvPr id="29" name="Text 16"/>
          <p:cNvSpPr/>
          <p:nvPr/>
        </p:nvSpPr>
        <p:spPr>
          <a:xfrm>
            <a:off x="2798064" y="241401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Non-profit status secured</a:t>
            </a:r>
            <a:endParaRPr lang="en-US" sz="850" dirty="0"/>
          </a:p>
        </p:txBody>
      </p:sp>
      <p:pic>
        <p:nvPicPr>
          <p:cNvPr id="30" name="Image 11" descr="preencoded.png"/>
          <p:cNvPicPr>
            <a:picLocks noChangeAspect="1"/>
          </p:cNvPicPr>
          <p:nvPr/>
        </p:nvPicPr>
        <p:blipFill>
          <a:blip r:embed="rId5"/>
          <a:stretch>
            <a:fillRect/>
          </a:stretch>
        </p:blipFill>
        <p:spPr>
          <a:xfrm>
            <a:off x="2578608" y="3072384"/>
            <a:ext cx="219456" cy="219456"/>
          </a:xfrm>
          <a:prstGeom prst="rect">
            <a:avLst/>
          </a:prstGeom>
        </p:spPr>
      </p:pic>
      <p:sp>
        <p:nvSpPr>
          <p:cNvPr id="31" name="Text 17"/>
          <p:cNvSpPr/>
          <p:nvPr/>
        </p:nvSpPr>
        <p:spPr>
          <a:xfrm>
            <a:off x="2798064" y="305409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Website launched</a:t>
            </a:r>
            <a:endParaRPr lang="en-US" sz="850" dirty="0"/>
          </a:p>
        </p:txBody>
      </p:sp>
      <p:pic>
        <p:nvPicPr>
          <p:cNvPr id="32" name="Image 12" descr="preencoded.png"/>
          <p:cNvPicPr>
            <a:picLocks noChangeAspect="1"/>
          </p:cNvPicPr>
          <p:nvPr/>
        </p:nvPicPr>
        <p:blipFill>
          <a:blip r:embed="rId5"/>
          <a:stretch>
            <a:fillRect/>
          </a:stretch>
        </p:blipFill>
        <p:spPr>
          <a:xfrm>
            <a:off x="2578608" y="3712464"/>
            <a:ext cx="219456" cy="219456"/>
          </a:xfrm>
          <a:prstGeom prst="rect">
            <a:avLst/>
          </a:prstGeom>
        </p:spPr>
      </p:pic>
      <p:sp>
        <p:nvSpPr>
          <p:cNvPr id="33" name="Text 18"/>
          <p:cNvSpPr/>
          <p:nvPr/>
        </p:nvSpPr>
        <p:spPr>
          <a:xfrm>
            <a:off x="2798064" y="369417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Club branding completed</a:t>
            </a:r>
            <a:endParaRPr lang="en-US" sz="850" dirty="0"/>
          </a:p>
        </p:txBody>
      </p:sp>
      <p:sp>
        <p:nvSpPr>
          <p:cNvPr id="34" name="Shape 19"/>
          <p:cNvSpPr/>
          <p:nvPr/>
        </p:nvSpPr>
        <p:spPr>
          <a:xfrm>
            <a:off x="4553712" y="1078992"/>
            <a:ext cx="2029968" cy="3456432"/>
          </a:xfrm>
          <a:prstGeom prst="roundRect">
            <a:avLst>
              <a:gd name="adj" fmla="val 3153"/>
            </a:avLst>
          </a:prstGeom>
          <a:solidFill>
            <a:srgbClr val="0D1F3C"/>
          </a:solidFill>
          <a:ln w="762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pic>
        <p:nvPicPr>
          <p:cNvPr id="35" name="Image 13" descr="preencoded.png"/>
          <p:cNvPicPr>
            <a:picLocks noChangeAspect="1"/>
          </p:cNvPicPr>
          <p:nvPr/>
        </p:nvPicPr>
        <p:blipFill>
          <a:blip r:embed="rId7"/>
          <a:stretch>
            <a:fillRect/>
          </a:stretch>
        </p:blipFill>
        <p:spPr>
          <a:xfrm>
            <a:off x="4718304" y="1243584"/>
            <a:ext cx="365760" cy="365760"/>
          </a:xfrm>
          <a:prstGeom prst="rect">
            <a:avLst/>
          </a:prstGeom>
        </p:spPr>
      </p:pic>
      <p:sp>
        <p:nvSpPr>
          <p:cNvPr id="36" name="Text 20"/>
          <p:cNvSpPr/>
          <p:nvPr/>
        </p:nvSpPr>
        <p:spPr>
          <a:xfrm>
            <a:off x="5138928" y="1243584"/>
            <a:ext cx="1353312" cy="365760"/>
          </a:xfrm>
          <a:prstGeom prst="rect">
            <a:avLst/>
          </a:prstGeom>
          <a:noFill/>
          <a:ln/>
        </p:spPr>
        <p:txBody>
          <a:bodyPr wrap="square" lIns="0" tIns="0" rIns="0" bIns="0" rtlCol="0" anchor="ctr"/>
          <a:lstStyle/>
          <a:p>
            <a:pPr marL="0" indent="0" algn="l">
              <a:buNone/>
            </a:pPr>
            <a:r>
              <a:rPr lang="en-US" sz="900" b="1" kern="0" spc="150" dirty="0">
                <a:solidFill>
                  <a:srgbClr val="E0A106"/>
                </a:solidFill>
                <a:latin typeface="Arial" pitchFamily="34" charset="0"/>
                <a:ea typeface="Arial" pitchFamily="34" charset="-122"/>
                <a:cs typeface="Arial" pitchFamily="34" charset="-120"/>
              </a:rPr>
              <a:t>ADMINISTRATION</a:t>
            </a:r>
            <a:endParaRPr lang="en-US" sz="900" dirty="0"/>
          </a:p>
        </p:txBody>
      </p:sp>
      <p:sp>
        <p:nvSpPr>
          <p:cNvPr id="37" name="Shape 21"/>
          <p:cNvSpPr/>
          <p:nvPr/>
        </p:nvSpPr>
        <p:spPr>
          <a:xfrm>
            <a:off x="4681728" y="1664208"/>
            <a:ext cx="1773936" cy="16459"/>
          </a:xfrm>
          <a:prstGeom prst="rect">
            <a:avLst/>
          </a:prstGeom>
          <a:solidFill>
            <a:srgbClr val="E0A106">
              <a:alpha val="45000"/>
            </a:srgbClr>
          </a:solidFill>
          <a:ln w="12700">
            <a:solidFill>
              <a:srgbClr val="E0A106"/>
            </a:solidFill>
            <a:prstDash val="solid"/>
          </a:ln>
        </p:spPr>
        <p:txBody>
          <a:bodyPr/>
          <a:lstStyle/>
          <a:p>
            <a:endParaRPr lang="de-FR"/>
          </a:p>
        </p:txBody>
      </p:sp>
      <p:pic>
        <p:nvPicPr>
          <p:cNvPr id="38" name="Image 14" descr="preencoded.png"/>
          <p:cNvPicPr>
            <a:picLocks noChangeAspect="1"/>
          </p:cNvPicPr>
          <p:nvPr/>
        </p:nvPicPr>
        <p:blipFill>
          <a:blip r:embed="rId5"/>
          <a:stretch>
            <a:fillRect/>
          </a:stretch>
        </p:blipFill>
        <p:spPr>
          <a:xfrm>
            <a:off x="4681728" y="1792224"/>
            <a:ext cx="219456" cy="219456"/>
          </a:xfrm>
          <a:prstGeom prst="rect">
            <a:avLst/>
          </a:prstGeom>
        </p:spPr>
      </p:pic>
      <p:sp>
        <p:nvSpPr>
          <p:cNvPr id="39" name="Text 22"/>
          <p:cNvSpPr/>
          <p:nvPr/>
        </p:nvSpPr>
        <p:spPr>
          <a:xfrm>
            <a:off x="4901184" y="177393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Provisional BFV admission</a:t>
            </a:r>
            <a:endParaRPr lang="en-US" sz="850" dirty="0"/>
          </a:p>
        </p:txBody>
      </p:sp>
      <p:pic>
        <p:nvPicPr>
          <p:cNvPr id="40" name="Image 15" descr="preencoded.png"/>
          <p:cNvPicPr>
            <a:picLocks noChangeAspect="1"/>
          </p:cNvPicPr>
          <p:nvPr/>
        </p:nvPicPr>
        <p:blipFill>
          <a:blip r:embed="rId5"/>
          <a:stretch>
            <a:fillRect/>
          </a:stretch>
        </p:blipFill>
        <p:spPr>
          <a:xfrm>
            <a:off x="4681728" y="2432304"/>
            <a:ext cx="219456" cy="219456"/>
          </a:xfrm>
          <a:prstGeom prst="rect">
            <a:avLst/>
          </a:prstGeom>
        </p:spPr>
      </p:pic>
      <p:sp>
        <p:nvSpPr>
          <p:cNvPr id="41" name="Text 23"/>
          <p:cNvSpPr/>
          <p:nvPr/>
        </p:nvSpPr>
        <p:spPr>
          <a:xfrm>
            <a:off x="4901184" y="241401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Statute amendments prepared</a:t>
            </a:r>
            <a:endParaRPr lang="en-US" sz="850" dirty="0"/>
          </a:p>
        </p:txBody>
      </p:sp>
      <p:pic>
        <p:nvPicPr>
          <p:cNvPr id="42" name="Image 16" descr="preencoded.png"/>
          <p:cNvPicPr>
            <a:picLocks noChangeAspect="1"/>
          </p:cNvPicPr>
          <p:nvPr/>
        </p:nvPicPr>
        <p:blipFill>
          <a:blip r:embed="rId5"/>
          <a:stretch>
            <a:fillRect/>
          </a:stretch>
        </p:blipFill>
        <p:spPr>
          <a:xfrm>
            <a:off x="4681728" y="3072384"/>
            <a:ext cx="219456" cy="219456"/>
          </a:xfrm>
          <a:prstGeom prst="rect">
            <a:avLst/>
          </a:prstGeom>
        </p:spPr>
      </p:pic>
      <p:sp>
        <p:nvSpPr>
          <p:cNvPr id="43" name="Text 24"/>
          <p:cNvSpPr/>
          <p:nvPr/>
        </p:nvSpPr>
        <p:spPr>
          <a:xfrm>
            <a:off x="4901184" y="305409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Sporting recognition applied</a:t>
            </a:r>
            <a:endParaRPr lang="en-US" sz="850" dirty="0"/>
          </a:p>
        </p:txBody>
      </p:sp>
      <p:pic>
        <p:nvPicPr>
          <p:cNvPr id="44" name="Image 17" descr="preencoded.png"/>
          <p:cNvPicPr>
            <a:picLocks noChangeAspect="1"/>
          </p:cNvPicPr>
          <p:nvPr/>
        </p:nvPicPr>
        <p:blipFill>
          <a:blip r:embed="rId5"/>
          <a:stretch>
            <a:fillRect/>
          </a:stretch>
        </p:blipFill>
        <p:spPr>
          <a:xfrm>
            <a:off x="4681728" y="3712464"/>
            <a:ext cx="219456" cy="219456"/>
          </a:xfrm>
          <a:prstGeom prst="rect">
            <a:avLst/>
          </a:prstGeom>
        </p:spPr>
      </p:pic>
      <p:sp>
        <p:nvSpPr>
          <p:cNvPr id="45" name="Text 25"/>
          <p:cNvSpPr/>
          <p:nvPr/>
        </p:nvSpPr>
        <p:spPr>
          <a:xfrm>
            <a:off x="4901184" y="369417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Legal structure in place</a:t>
            </a:r>
            <a:endParaRPr lang="en-US" sz="850" dirty="0"/>
          </a:p>
        </p:txBody>
      </p:sp>
      <p:sp>
        <p:nvSpPr>
          <p:cNvPr id="46" name="Shape 26"/>
          <p:cNvSpPr/>
          <p:nvPr/>
        </p:nvSpPr>
        <p:spPr>
          <a:xfrm>
            <a:off x="6656832" y="1078992"/>
            <a:ext cx="2029968" cy="3456432"/>
          </a:xfrm>
          <a:prstGeom prst="roundRect">
            <a:avLst>
              <a:gd name="adj" fmla="val 3153"/>
            </a:avLst>
          </a:prstGeom>
          <a:solidFill>
            <a:srgbClr val="0D1F3C"/>
          </a:solidFill>
          <a:ln w="762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pic>
        <p:nvPicPr>
          <p:cNvPr id="47" name="Image 18" descr="preencoded.png"/>
          <p:cNvPicPr>
            <a:picLocks noChangeAspect="1"/>
          </p:cNvPicPr>
          <p:nvPr/>
        </p:nvPicPr>
        <p:blipFill>
          <a:blip r:embed="rId8"/>
          <a:stretch>
            <a:fillRect/>
          </a:stretch>
        </p:blipFill>
        <p:spPr>
          <a:xfrm>
            <a:off x="6821424" y="1243584"/>
            <a:ext cx="365760" cy="365760"/>
          </a:xfrm>
          <a:prstGeom prst="rect">
            <a:avLst/>
          </a:prstGeom>
        </p:spPr>
      </p:pic>
      <p:sp>
        <p:nvSpPr>
          <p:cNvPr id="48" name="Text 27"/>
          <p:cNvSpPr/>
          <p:nvPr/>
        </p:nvSpPr>
        <p:spPr>
          <a:xfrm>
            <a:off x="7242048" y="1243584"/>
            <a:ext cx="1353312" cy="365760"/>
          </a:xfrm>
          <a:prstGeom prst="rect">
            <a:avLst/>
          </a:prstGeom>
          <a:noFill/>
          <a:ln/>
        </p:spPr>
        <p:txBody>
          <a:bodyPr wrap="square" lIns="0" tIns="0" rIns="0" bIns="0" rtlCol="0" anchor="ctr"/>
          <a:lstStyle/>
          <a:p>
            <a:pPr marL="0" indent="0" algn="l">
              <a:buNone/>
            </a:pPr>
            <a:r>
              <a:rPr lang="en-US" sz="900" b="1" kern="0" spc="150" dirty="0">
                <a:solidFill>
                  <a:srgbClr val="E0A106"/>
                </a:solidFill>
                <a:latin typeface="Arial" pitchFamily="34" charset="0"/>
                <a:ea typeface="Arial" pitchFamily="34" charset="-122"/>
                <a:cs typeface="Arial" pitchFamily="34" charset="-120"/>
              </a:rPr>
              <a:t>GROWTH</a:t>
            </a:r>
            <a:endParaRPr lang="en-US" sz="900" dirty="0"/>
          </a:p>
        </p:txBody>
      </p:sp>
      <p:sp>
        <p:nvSpPr>
          <p:cNvPr id="49" name="Shape 28"/>
          <p:cNvSpPr/>
          <p:nvPr/>
        </p:nvSpPr>
        <p:spPr>
          <a:xfrm>
            <a:off x="6784848" y="1664208"/>
            <a:ext cx="1773936" cy="16459"/>
          </a:xfrm>
          <a:prstGeom prst="rect">
            <a:avLst/>
          </a:prstGeom>
          <a:solidFill>
            <a:srgbClr val="E0A106">
              <a:alpha val="45000"/>
            </a:srgbClr>
          </a:solidFill>
          <a:ln w="12700">
            <a:solidFill>
              <a:srgbClr val="E0A106"/>
            </a:solidFill>
            <a:prstDash val="solid"/>
          </a:ln>
        </p:spPr>
        <p:txBody>
          <a:bodyPr/>
          <a:lstStyle/>
          <a:p>
            <a:endParaRPr lang="de-FR"/>
          </a:p>
        </p:txBody>
      </p:sp>
      <p:pic>
        <p:nvPicPr>
          <p:cNvPr id="50" name="Image 19" descr="preencoded.png"/>
          <p:cNvPicPr>
            <a:picLocks noChangeAspect="1"/>
          </p:cNvPicPr>
          <p:nvPr/>
        </p:nvPicPr>
        <p:blipFill>
          <a:blip r:embed="rId5"/>
          <a:stretch>
            <a:fillRect/>
          </a:stretch>
        </p:blipFill>
        <p:spPr>
          <a:xfrm>
            <a:off x="6784848" y="1792224"/>
            <a:ext cx="219456" cy="219456"/>
          </a:xfrm>
          <a:prstGeom prst="rect">
            <a:avLst/>
          </a:prstGeom>
        </p:spPr>
      </p:pic>
      <p:sp>
        <p:nvSpPr>
          <p:cNvPr id="51" name="Text 29"/>
          <p:cNvSpPr/>
          <p:nvPr/>
        </p:nvSpPr>
        <p:spPr>
          <a:xfrm>
            <a:off x="7004304" y="177393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Sponsorship presentation ready</a:t>
            </a:r>
            <a:endParaRPr lang="en-US" sz="850" dirty="0"/>
          </a:p>
        </p:txBody>
      </p:sp>
      <p:pic>
        <p:nvPicPr>
          <p:cNvPr id="52" name="Image 20" descr="preencoded.png"/>
          <p:cNvPicPr>
            <a:picLocks noChangeAspect="1"/>
          </p:cNvPicPr>
          <p:nvPr/>
        </p:nvPicPr>
        <p:blipFill>
          <a:blip r:embed="rId5"/>
          <a:stretch>
            <a:fillRect/>
          </a:stretch>
        </p:blipFill>
        <p:spPr>
          <a:xfrm>
            <a:off x="6784848" y="2432304"/>
            <a:ext cx="219456" cy="219456"/>
          </a:xfrm>
          <a:prstGeom prst="rect">
            <a:avLst/>
          </a:prstGeom>
        </p:spPr>
      </p:pic>
      <p:sp>
        <p:nvSpPr>
          <p:cNvPr id="53" name="Text 30"/>
          <p:cNvSpPr/>
          <p:nvPr/>
        </p:nvSpPr>
        <p:spPr>
          <a:xfrm>
            <a:off x="7004304" y="241401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Sponsor outreach launched</a:t>
            </a:r>
            <a:endParaRPr lang="en-US" sz="850" dirty="0"/>
          </a:p>
        </p:txBody>
      </p:sp>
      <p:pic>
        <p:nvPicPr>
          <p:cNvPr id="54" name="Image 21" descr="preencoded.png"/>
          <p:cNvPicPr>
            <a:picLocks noChangeAspect="1"/>
          </p:cNvPicPr>
          <p:nvPr/>
        </p:nvPicPr>
        <p:blipFill>
          <a:blip r:embed="rId5"/>
          <a:stretch>
            <a:fillRect/>
          </a:stretch>
        </p:blipFill>
        <p:spPr>
          <a:xfrm>
            <a:off x="6784848" y="3072384"/>
            <a:ext cx="219456" cy="219456"/>
          </a:xfrm>
          <a:prstGeom prst="rect">
            <a:avLst/>
          </a:prstGeom>
        </p:spPr>
      </p:pic>
      <p:sp>
        <p:nvSpPr>
          <p:cNvPr id="55" name="Text 31"/>
          <p:cNvSpPr/>
          <p:nvPr/>
        </p:nvSpPr>
        <p:spPr>
          <a:xfrm>
            <a:off x="7004304" y="305409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First companies contacted</a:t>
            </a:r>
            <a:endParaRPr lang="en-US" sz="850" dirty="0"/>
          </a:p>
        </p:txBody>
      </p:sp>
      <p:pic>
        <p:nvPicPr>
          <p:cNvPr id="56" name="Image 22" descr="preencoded.png"/>
          <p:cNvPicPr>
            <a:picLocks noChangeAspect="1"/>
          </p:cNvPicPr>
          <p:nvPr/>
        </p:nvPicPr>
        <p:blipFill>
          <a:blip r:embed="rId5"/>
          <a:stretch>
            <a:fillRect/>
          </a:stretch>
        </p:blipFill>
        <p:spPr>
          <a:xfrm>
            <a:off x="6784848" y="3712464"/>
            <a:ext cx="219456" cy="219456"/>
          </a:xfrm>
          <a:prstGeom prst="rect">
            <a:avLst/>
          </a:prstGeom>
        </p:spPr>
      </p:pic>
      <p:sp>
        <p:nvSpPr>
          <p:cNvPr id="57" name="Text 32"/>
          <p:cNvSpPr/>
          <p:nvPr/>
        </p:nvSpPr>
        <p:spPr>
          <a:xfrm>
            <a:off x="7004304" y="3694176"/>
            <a:ext cx="1572768" cy="603504"/>
          </a:xfrm>
          <a:prstGeom prst="rect">
            <a:avLst/>
          </a:prstGeom>
          <a:noFill/>
          <a:ln/>
        </p:spPr>
        <p:txBody>
          <a:bodyPr wrap="square" lIns="0" tIns="0" rIns="0" bIns="0" rtlCol="0" anchor="t"/>
          <a:lstStyle/>
          <a:p>
            <a:pPr marL="0" indent="0" algn="l">
              <a:buNone/>
            </a:pPr>
            <a:r>
              <a:rPr lang="en-US" sz="850" dirty="0">
                <a:solidFill>
                  <a:srgbClr val="FFFFFF"/>
                </a:solidFill>
                <a:latin typeface="Arial" pitchFamily="34" charset="0"/>
                <a:ea typeface="Arial" pitchFamily="34" charset="-122"/>
                <a:cs typeface="Arial" pitchFamily="34" charset="-120"/>
              </a:rPr>
              <a:t>Community growing fast</a:t>
            </a:r>
            <a:endParaRPr lang="en-US" sz="850" dirty="0"/>
          </a:p>
        </p:txBody>
      </p:sp>
      <p:sp>
        <p:nvSpPr>
          <p:cNvPr id="58" name="Shape 33"/>
          <p:cNvSpPr/>
          <p:nvPr/>
        </p:nvSpPr>
        <p:spPr>
          <a:xfrm>
            <a:off x="0" y="4754880"/>
            <a:ext cx="9144000" cy="388620"/>
          </a:xfrm>
          <a:prstGeom prst="rect">
            <a:avLst/>
          </a:prstGeom>
          <a:solidFill>
            <a:srgbClr val="002855"/>
          </a:solidFill>
          <a:ln w="12700">
            <a:solidFill>
              <a:srgbClr val="002855"/>
            </a:solidFill>
            <a:prstDash val="solid"/>
          </a:ln>
        </p:spPr>
        <p:txBody>
          <a:bodyPr/>
          <a:lstStyle/>
          <a:p>
            <a:endParaRPr lang="de-FR"/>
          </a:p>
        </p:txBody>
      </p:sp>
      <p:sp>
        <p:nvSpPr>
          <p:cNvPr id="59" name="Shape 34"/>
          <p:cNvSpPr/>
          <p:nvPr/>
        </p:nvSpPr>
        <p:spPr>
          <a:xfrm>
            <a:off x="0" y="4754880"/>
            <a:ext cx="9144000" cy="22860"/>
          </a:xfrm>
          <a:prstGeom prst="rect">
            <a:avLst/>
          </a:prstGeom>
          <a:solidFill>
            <a:srgbClr val="E0A106"/>
          </a:solidFill>
          <a:ln w="12700">
            <a:solidFill>
              <a:srgbClr val="E0A106"/>
            </a:solidFill>
            <a:prstDash val="solid"/>
          </a:ln>
        </p:spPr>
        <p:txBody>
          <a:bodyPr/>
          <a:lstStyle/>
          <a:p>
            <a:endParaRPr lang="de-FR"/>
          </a:p>
        </p:txBody>
      </p:sp>
      <p:sp>
        <p:nvSpPr>
          <p:cNvPr id="60" name="Text 35"/>
          <p:cNvSpPr/>
          <p:nvPr/>
        </p:nvSpPr>
        <p:spPr>
          <a:xfrm>
            <a:off x="347472" y="4773168"/>
            <a:ext cx="8449056" cy="347472"/>
          </a:xfrm>
          <a:prstGeom prst="rect">
            <a:avLst/>
          </a:prstGeom>
          <a:noFill/>
          <a:ln/>
        </p:spPr>
        <p:txBody>
          <a:bodyPr wrap="square" lIns="0" tIns="0" rIns="0" bIns="0" rtlCol="0" anchor="ctr"/>
          <a:lstStyle/>
          <a:p>
            <a:pPr marL="0" indent="0" algn="ctr">
              <a:buNone/>
            </a:pPr>
            <a:r>
              <a:rPr lang="en-US" sz="1100" b="1" i="1" dirty="0">
                <a:solidFill>
                  <a:srgbClr val="E0A106"/>
                </a:solidFill>
                <a:latin typeface="Arial" pitchFamily="34" charset="0"/>
                <a:ea typeface="Arial" pitchFamily="34" charset="-122"/>
                <a:cs typeface="Arial" pitchFamily="34" charset="-120"/>
              </a:rPr>
              <a:t>An incredible amount has been achieved within a very short time.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8"/>
        </a:solidFill>
        <a:effectLst/>
      </p:bgPr>
    </p:bg>
    <p:spTree>
      <p:nvGrpSpPr>
        <p:cNvPr id="1" name=""/>
        <p:cNvGrpSpPr/>
        <p:nvPr/>
      </p:nvGrpSpPr>
      <p:grpSpPr>
        <a:xfrm>
          <a:off x="0" y="0"/>
          <a:ext cx="0" cy="0"/>
          <a:chOff x="0" y="0"/>
          <a:chExt cx="0" cy="0"/>
        </a:xfrm>
      </p:grpSpPr>
      <p:sp>
        <p:nvSpPr>
          <p:cNvPr id="2" name="Text 0"/>
          <p:cNvSpPr/>
          <p:nvPr/>
        </p:nvSpPr>
        <p:spPr>
          <a:xfrm>
            <a:off x="347472" y="256032"/>
            <a:ext cx="8449056" cy="310896"/>
          </a:xfrm>
          <a:prstGeom prst="rect">
            <a:avLst/>
          </a:prstGeom>
          <a:noFill/>
          <a:ln/>
        </p:spPr>
        <p:txBody>
          <a:bodyPr wrap="square" lIns="0" tIns="0" rIns="0" bIns="0" rtlCol="0" anchor="ctr"/>
          <a:lstStyle/>
          <a:p>
            <a:pPr marL="0" indent="0" algn="l">
              <a:buNone/>
            </a:pPr>
            <a:r>
              <a:rPr lang="en-US" sz="900" b="1" kern="0" spc="400" dirty="0">
                <a:solidFill>
                  <a:srgbClr val="E0A106"/>
                </a:solidFill>
                <a:latin typeface="Arial" pitchFamily="34" charset="0"/>
                <a:ea typeface="Arial" pitchFamily="34" charset="-122"/>
                <a:cs typeface="Arial" pitchFamily="34" charset="-120"/>
              </a:rPr>
              <a:t>WHERE WE STAND TODAY</a:t>
            </a:r>
            <a:endParaRPr lang="en-US" sz="900" dirty="0"/>
          </a:p>
        </p:txBody>
      </p:sp>
      <p:sp>
        <p:nvSpPr>
          <p:cNvPr id="3" name="Text 1"/>
          <p:cNvSpPr/>
          <p:nvPr/>
        </p:nvSpPr>
        <p:spPr>
          <a:xfrm>
            <a:off x="347472" y="530352"/>
            <a:ext cx="6400800" cy="329184"/>
          </a:xfrm>
          <a:prstGeom prst="rect">
            <a:avLst/>
          </a:prstGeom>
          <a:noFill/>
          <a:ln/>
        </p:spPr>
        <p:txBody>
          <a:bodyPr wrap="square" lIns="0" tIns="0" rIns="0" bIns="0" rtlCol="0" anchor="ctr"/>
          <a:lstStyle/>
          <a:p>
            <a:pPr marL="0" indent="0" algn="l">
              <a:buNone/>
            </a:pPr>
            <a:r>
              <a:rPr lang="en-US" sz="1700" dirty="0">
                <a:solidFill>
                  <a:srgbClr val="FFFFFF"/>
                </a:solidFill>
                <a:latin typeface="Arial" pitchFamily="34" charset="0"/>
                <a:ea typeface="Arial" pitchFamily="34" charset="-122"/>
                <a:cs typeface="Arial" pitchFamily="34" charset="-120"/>
              </a:rPr>
              <a:t>A clear-eyed view of our current position.</a:t>
            </a:r>
            <a:endParaRPr lang="en-US" sz="1700" dirty="0"/>
          </a:p>
        </p:txBody>
      </p:sp>
      <p:sp>
        <p:nvSpPr>
          <p:cNvPr id="4" name="Shape 2"/>
          <p:cNvSpPr/>
          <p:nvPr/>
        </p:nvSpPr>
        <p:spPr>
          <a:xfrm>
            <a:off x="347472" y="923544"/>
            <a:ext cx="8449056" cy="22860"/>
          </a:xfrm>
          <a:prstGeom prst="rect">
            <a:avLst/>
          </a:prstGeom>
          <a:solidFill>
            <a:srgbClr val="E0A106">
              <a:alpha val="60000"/>
            </a:srgbClr>
          </a:solidFill>
          <a:ln w="12700">
            <a:solidFill>
              <a:srgbClr val="E0A106"/>
            </a:solidFill>
            <a:prstDash val="solid"/>
          </a:ln>
        </p:spPr>
        <p:txBody>
          <a:bodyPr/>
          <a:lstStyle/>
          <a:p>
            <a:endParaRPr lang="de-FR"/>
          </a:p>
        </p:txBody>
      </p:sp>
      <p:sp>
        <p:nvSpPr>
          <p:cNvPr id="5" name="Shape 3"/>
          <p:cNvSpPr/>
          <p:nvPr/>
        </p:nvSpPr>
        <p:spPr>
          <a:xfrm>
            <a:off x="347472" y="1005840"/>
            <a:ext cx="2633472" cy="2468880"/>
          </a:xfrm>
          <a:prstGeom prst="roundRect">
            <a:avLst>
              <a:gd name="adj" fmla="val 2593"/>
            </a:avLst>
          </a:prstGeom>
          <a:solidFill>
            <a:srgbClr val="051A0F"/>
          </a:solidFill>
          <a:ln w="15240">
            <a:solidFill>
              <a:srgbClr val="22C55E"/>
            </a:solidFill>
            <a:prstDash val="solid"/>
          </a:ln>
          <a:effectLst>
            <a:outerShdw blurRad="177800" dist="50800" dir="8100000" algn="bl" rotWithShape="0">
              <a:srgbClr val="000000">
                <a:alpha val="28000"/>
              </a:srgbClr>
            </a:outerShdw>
          </a:effectLst>
        </p:spPr>
        <p:txBody>
          <a:bodyPr/>
          <a:lstStyle/>
          <a:p>
            <a:endParaRPr lang="de-FR"/>
          </a:p>
        </p:txBody>
      </p:sp>
      <p:pic>
        <p:nvPicPr>
          <p:cNvPr id="6" name="Image 0" descr="preencoded.png"/>
          <p:cNvPicPr>
            <a:picLocks noChangeAspect="1"/>
          </p:cNvPicPr>
          <p:nvPr/>
        </p:nvPicPr>
        <p:blipFill>
          <a:blip r:embed="rId3"/>
          <a:stretch>
            <a:fillRect/>
          </a:stretch>
        </p:blipFill>
        <p:spPr>
          <a:xfrm>
            <a:off x="512064" y="1161288"/>
            <a:ext cx="201168" cy="201168"/>
          </a:xfrm>
          <a:prstGeom prst="rect">
            <a:avLst/>
          </a:prstGeom>
        </p:spPr>
      </p:pic>
      <p:sp>
        <p:nvSpPr>
          <p:cNvPr id="7" name="Text 4"/>
          <p:cNvSpPr/>
          <p:nvPr/>
        </p:nvSpPr>
        <p:spPr>
          <a:xfrm>
            <a:off x="768096" y="1133856"/>
            <a:ext cx="2121408" cy="256032"/>
          </a:xfrm>
          <a:prstGeom prst="rect">
            <a:avLst/>
          </a:prstGeom>
          <a:noFill/>
          <a:ln/>
        </p:spPr>
        <p:txBody>
          <a:bodyPr wrap="square" lIns="0" tIns="0" rIns="0" bIns="0" rtlCol="0" anchor="ctr"/>
          <a:lstStyle/>
          <a:p>
            <a:pPr marL="0" indent="0" algn="l">
              <a:buNone/>
            </a:pPr>
            <a:r>
              <a:rPr lang="en-US" sz="800" b="1" kern="0" spc="150" dirty="0">
                <a:solidFill>
                  <a:srgbClr val="22C55E"/>
                </a:solidFill>
                <a:latin typeface="Arial" pitchFamily="34" charset="0"/>
                <a:ea typeface="Arial" pitchFamily="34" charset="-122"/>
                <a:cs typeface="Arial" pitchFamily="34" charset="-120"/>
              </a:rPr>
              <a:t>COMPLETED</a:t>
            </a:r>
            <a:endParaRPr lang="en-US" sz="800" dirty="0"/>
          </a:p>
        </p:txBody>
      </p:sp>
      <p:sp>
        <p:nvSpPr>
          <p:cNvPr id="8" name="Shape 5"/>
          <p:cNvSpPr/>
          <p:nvPr/>
        </p:nvSpPr>
        <p:spPr>
          <a:xfrm>
            <a:off x="475488" y="1426464"/>
            <a:ext cx="2377440" cy="16459"/>
          </a:xfrm>
          <a:prstGeom prst="rect">
            <a:avLst/>
          </a:prstGeom>
          <a:solidFill>
            <a:srgbClr val="22C55E">
              <a:alpha val="40000"/>
            </a:srgbClr>
          </a:solidFill>
          <a:ln w="12700">
            <a:solidFill>
              <a:srgbClr val="22C55E"/>
            </a:solidFill>
            <a:prstDash val="solid"/>
          </a:ln>
        </p:spPr>
        <p:txBody>
          <a:bodyPr/>
          <a:lstStyle/>
          <a:p>
            <a:endParaRPr lang="de-FR"/>
          </a:p>
        </p:txBody>
      </p:sp>
      <p:sp>
        <p:nvSpPr>
          <p:cNvPr id="9" name="Text 6"/>
          <p:cNvSpPr/>
          <p:nvPr/>
        </p:nvSpPr>
        <p:spPr>
          <a:xfrm>
            <a:off x="512064" y="1517904"/>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Registered Association (e.V.)</a:t>
            </a:r>
            <a:endParaRPr lang="en-US" sz="900" dirty="0"/>
          </a:p>
        </p:txBody>
      </p:sp>
      <p:sp>
        <p:nvSpPr>
          <p:cNvPr id="10" name="Text 7"/>
          <p:cNvSpPr/>
          <p:nvPr/>
        </p:nvSpPr>
        <p:spPr>
          <a:xfrm>
            <a:off x="512064" y="1847088"/>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Football team structure</a:t>
            </a:r>
            <a:endParaRPr lang="en-US" sz="900" dirty="0"/>
          </a:p>
        </p:txBody>
      </p:sp>
      <p:sp>
        <p:nvSpPr>
          <p:cNvPr id="11" name="Text 8"/>
          <p:cNvSpPr/>
          <p:nvPr/>
        </p:nvSpPr>
        <p:spPr>
          <a:xfrm>
            <a:off x="512064" y="2176272"/>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Website live</a:t>
            </a:r>
            <a:endParaRPr lang="en-US" sz="900" dirty="0"/>
          </a:p>
        </p:txBody>
      </p:sp>
      <p:sp>
        <p:nvSpPr>
          <p:cNvPr id="12" name="Text 9"/>
          <p:cNvSpPr/>
          <p:nvPr/>
        </p:nvSpPr>
        <p:spPr>
          <a:xfrm>
            <a:off x="512064" y="2505456"/>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Club branding</a:t>
            </a:r>
            <a:endParaRPr lang="en-US" sz="900" dirty="0"/>
          </a:p>
        </p:txBody>
      </p:sp>
      <p:sp>
        <p:nvSpPr>
          <p:cNvPr id="13" name="Text 10"/>
          <p:cNvSpPr/>
          <p:nvPr/>
        </p:nvSpPr>
        <p:spPr>
          <a:xfrm>
            <a:off x="512064" y="2834640"/>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Sponsorship presentation</a:t>
            </a:r>
            <a:endParaRPr lang="en-US" sz="900" dirty="0"/>
          </a:p>
        </p:txBody>
      </p:sp>
      <p:sp>
        <p:nvSpPr>
          <p:cNvPr id="14" name="Text 11"/>
          <p:cNvSpPr/>
          <p:nvPr/>
        </p:nvSpPr>
        <p:spPr>
          <a:xfrm>
            <a:off x="512064" y="3163824"/>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Provisional BFV admission</a:t>
            </a:r>
            <a:endParaRPr lang="en-US" sz="900" dirty="0"/>
          </a:p>
        </p:txBody>
      </p:sp>
      <p:sp>
        <p:nvSpPr>
          <p:cNvPr id="15" name="Shape 12"/>
          <p:cNvSpPr/>
          <p:nvPr/>
        </p:nvSpPr>
        <p:spPr>
          <a:xfrm>
            <a:off x="3182112" y="1005840"/>
            <a:ext cx="2633472" cy="2468880"/>
          </a:xfrm>
          <a:prstGeom prst="roundRect">
            <a:avLst>
              <a:gd name="adj" fmla="val 2593"/>
            </a:avLst>
          </a:prstGeom>
          <a:solidFill>
            <a:srgbClr val="1A1200"/>
          </a:solidFill>
          <a:ln w="15240">
            <a:solidFill>
              <a:srgbClr val="F59E0B"/>
            </a:solidFill>
            <a:prstDash val="solid"/>
          </a:ln>
          <a:effectLst>
            <a:outerShdw blurRad="177800" dist="50800" dir="8100000" algn="bl" rotWithShape="0">
              <a:srgbClr val="000000">
                <a:alpha val="28000"/>
              </a:srgbClr>
            </a:outerShdw>
          </a:effectLst>
        </p:spPr>
        <p:txBody>
          <a:bodyPr/>
          <a:lstStyle/>
          <a:p>
            <a:endParaRPr lang="de-FR"/>
          </a:p>
        </p:txBody>
      </p:sp>
      <p:pic>
        <p:nvPicPr>
          <p:cNvPr id="16" name="Image 1" descr="preencoded.png"/>
          <p:cNvPicPr>
            <a:picLocks noChangeAspect="1"/>
          </p:cNvPicPr>
          <p:nvPr/>
        </p:nvPicPr>
        <p:blipFill>
          <a:blip r:embed="rId4"/>
          <a:stretch>
            <a:fillRect/>
          </a:stretch>
        </p:blipFill>
        <p:spPr>
          <a:xfrm>
            <a:off x="3346704" y="1161288"/>
            <a:ext cx="201168" cy="201168"/>
          </a:xfrm>
          <a:prstGeom prst="rect">
            <a:avLst/>
          </a:prstGeom>
        </p:spPr>
      </p:pic>
      <p:sp>
        <p:nvSpPr>
          <p:cNvPr id="17" name="Text 13"/>
          <p:cNvSpPr/>
          <p:nvPr/>
        </p:nvSpPr>
        <p:spPr>
          <a:xfrm>
            <a:off x="3602736" y="1133856"/>
            <a:ext cx="2121408" cy="256032"/>
          </a:xfrm>
          <a:prstGeom prst="rect">
            <a:avLst/>
          </a:prstGeom>
          <a:noFill/>
          <a:ln/>
        </p:spPr>
        <p:txBody>
          <a:bodyPr wrap="square" lIns="0" tIns="0" rIns="0" bIns="0" rtlCol="0" anchor="ctr"/>
          <a:lstStyle/>
          <a:p>
            <a:pPr marL="0" indent="0" algn="l">
              <a:buNone/>
            </a:pPr>
            <a:r>
              <a:rPr lang="en-US" sz="800" b="1" kern="0" spc="150" dirty="0">
                <a:solidFill>
                  <a:srgbClr val="F59E0B"/>
                </a:solidFill>
                <a:latin typeface="Arial" pitchFamily="34" charset="0"/>
                <a:ea typeface="Arial" pitchFamily="34" charset="-122"/>
                <a:cs typeface="Arial" pitchFamily="34" charset="-120"/>
              </a:rPr>
              <a:t>IN PROGRESS</a:t>
            </a:r>
            <a:endParaRPr lang="en-US" sz="800" dirty="0"/>
          </a:p>
        </p:txBody>
      </p:sp>
      <p:sp>
        <p:nvSpPr>
          <p:cNvPr id="18" name="Shape 14"/>
          <p:cNvSpPr/>
          <p:nvPr/>
        </p:nvSpPr>
        <p:spPr>
          <a:xfrm>
            <a:off x="3310128" y="1426464"/>
            <a:ext cx="2377440" cy="16459"/>
          </a:xfrm>
          <a:prstGeom prst="rect">
            <a:avLst/>
          </a:prstGeom>
          <a:solidFill>
            <a:srgbClr val="F59E0B">
              <a:alpha val="40000"/>
            </a:srgbClr>
          </a:solidFill>
          <a:ln w="12700">
            <a:solidFill>
              <a:srgbClr val="F59E0B"/>
            </a:solidFill>
            <a:prstDash val="solid"/>
          </a:ln>
        </p:spPr>
        <p:txBody>
          <a:bodyPr/>
          <a:lstStyle/>
          <a:p>
            <a:endParaRPr lang="de-FR"/>
          </a:p>
        </p:txBody>
      </p:sp>
      <p:sp>
        <p:nvSpPr>
          <p:cNvPr id="19" name="Text 15"/>
          <p:cNvSpPr/>
          <p:nvPr/>
        </p:nvSpPr>
        <p:spPr>
          <a:xfrm>
            <a:off x="3346704" y="1517904"/>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Sporting recognition</a:t>
            </a:r>
            <a:endParaRPr lang="en-US" sz="900" dirty="0"/>
          </a:p>
        </p:txBody>
      </p:sp>
      <p:sp>
        <p:nvSpPr>
          <p:cNvPr id="20" name="Text 16"/>
          <p:cNvSpPr/>
          <p:nvPr/>
        </p:nvSpPr>
        <p:spPr>
          <a:xfrm>
            <a:off x="3346704" y="1847088"/>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Sponsor acquisition</a:t>
            </a:r>
            <a:endParaRPr lang="en-US" sz="900" dirty="0"/>
          </a:p>
        </p:txBody>
      </p:sp>
      <p:sp>
        <p:nvSpPr>
          <p:cNvPr id="21" name="Text 17"/>
          <p:cNvSpPr/>
          <p:nvPr/>
        </p:nvSpPr>
        <p:spPr>
          <a:xfrm>
            <a:off x="3346704" y="2176272"/>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Bank account setup</a:t>
            </a:r>
            <a:endParaRPr lang="en-US" sz="900" dirty="0"/>
          </a:p>
        </p:txBody>
      </p:sp>
      <p:sp>
        <p:nvSpPr>
          <p:cNvPr id="22" name="Text 18"/>
          <p:cNvSpPr/>
          <p:nvPr/>
        </p:nvSpPr>
        <p:spPr>
          <a:xfrm>
            <a:off x="3346704" y="2505456"/>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Women's football planning</a:t>
            </a:r>
            <a:endParaRPr lang="en-US" sz="900" dirty="0"/>
          </a:p>
        </p:txBody>
      </p:sp>
      <p:sp>
        <p:nvSpPr>
          <p:cNvPr id="23" name="Text 19"/>
          <p:cNvSpPr/>
          <p:nvPr/>
        </p:nvSpPr>
        <p:spPr>
          <a:xfrm>
            <a:off x="3346704" y="2834640"/>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Partnerships &amp; networks</a:t>
            </a:r>
            <a:endParaRPr lang="en-US" sz="900" dirty="0"/>
          </a:p>
        </p:txBody>
      </p:sp>
      <p:sp>
        <p:nvSpPr>
          <p:cNvPr id="24" name="Shape 20"/>
          <p:cNvSpPr/>
          <p:nvPr/>
        </p:nvSpPr>
        <p:spPr>
          <a:xfrm>
            <a:off x="6016752" y="1005840"/>
            <a:ext cx="2633472" cy="2468880"/>
          </a:xfrm>
          <a:prstGeom prst="roundRect">
            <a:avLst>
              <a:gd name="adj" fmla="val 2593"/>
            </a:avLst>
          </a:prstGeom>
          <a:solidFill>
            <a:srgbClr val="1A0505"/>
          </a:solidFill>
          <a:ln w="15240">
            <a:solidFill>
              <a:srgbClr val="EF4444"/>
            </a:solidFill>
            <a:prstDash val="solid"/>
          </a:ln>
          <a:effectLst>
            <a:outerShdw blurRad="177800" dist="50800" dir="8100000" algn="bl" rotWithShape="0">
              <a:srgbClr val="000000">
                <a:alpha val="28000"/>
              </a:srgbClr>
            </a:outerShdw>
          </a:effectLst>
        </p:spPr>
        <p:txBody>
          <a:bodyPr/>
          <a:lstStyle/>
          <a:p>
            <a:endParaRPr lang="de-FR"/>
          </a:p>
        </p:txBody>
      </p:sp>
      <p:pic>
        <p:nvPicPr>
          <p:cNvPr id="25" name="Image 2" descr="preencoded.png"/>
          <p:cNvPicPr>
            <a:picLocks noChangeAspect="1"/>
          </p:cNvPicPr>
          <p:nvPr/>
        </p:nvPicPr>
        <p:blipFill>
          <a:blip r:embed="rId5"/>
          <a:stretch>
            <a:fillRect/>
          </a:stretch>
        </p:blipFill>
        <p:spPr>
          <a:xfrm>
            <a:off x="6181344" y="1161288"/>
            <a:ext cx="201168" cy="201168"/>
          </a:xfrm>
          <a:prstGeom prst="rect">
            <a:avLst/>
          </a:prstGeom>
        </p:spPr>
      </p:pic>
      <p:sp>
        <p:nvSpPr>
          <p:cNvPr id="26" name="Text 21"/>
          <p:cNvSpPr/>
          <p:nvPr/>
        </p:nvSpPr>
        <p:spPr>
          <a:xfrm>
            <a:off x="6437376" y="1133856"/>
            <a:ext cx="2121408" cy="256032"/>
          </a:xfrm>
          <a:prstGeom prst="rect">
            <a:avLst/>
          </a:prstGeom>
          <a:noFill/>
          <a:ln/>
        </p:spPr>
        <p:txBody>
          <a:bodyPr wrap="square" lIns="0" tIns="0" rIns="0" bIns="0" rtlCol="0" anchor="ctr"/>
          <a:lstStyle/>
          <a:p>
            <a:pPr marL="0" indent="0" algn="l">
              <a:buNone/>
            </a:pPr>
            <a:r>
              <a:rPr lang="en-US" sz="800" b="1" kern="0" spc="150" dirty="0">
                <a:solidFill>
                  <a:srgbClr val="EF4444"/>
                </a:solidFill>
                <a:latin typeface="Arial" pitchFamily="34" charset="0"/>
                <a:ea typeface="Arial" pitchFamily="34" charset="-122"/>
                <a:cs typeface="Arial" pitchFamily="34" charset="-120"/>
              </a:rPr>
              <a:t>HIGHEST PRIORITY</a:t>
            </a:r>
            <a:endParaRPr lang="en-US" sz="800" dirty="0"/>
          </a:p>
        </p:txBody>
      </p:sp>
      <p:sp>
        <p:nvSpPr>
          <p:cNvPr id="27" name="Shape 22"/>
          <p:cNvSpPr/>
          <p:nvPr/>
        </p:nvSpPr>
        <p:spPr>
          <a:xfrm>
            <a:off x="6144768" y="1426464"/>
            <a:ext cx="2377440" cy="16459"/>
          </a:xfrm>
          <a:prstGeom prst="rect">
            <a:avLst/>
          </a:prstGeom>
          <a:solidFill>
            <a:srgbClr val="EF4444">
              <a:alpha val="40000"/>
            </a:srgbClr>
          </a:solidFill>
          <a:ln w="12700">
            <a:solidFill>
              <a:srgbClr val="EF4444"/>
            </a:solidFill>
            <a:prstDash val="solid"/>
          </a:ln>
        </p:spPr>
        <p:txBody>
          <a:bodyPr/>
          <a:lstStyle/>
          <a:p>
            <a:endParaRPr lang="de-FR"/>
          </a:p>
        </p:txBody>
      </p:sp>
      <p:sp>
        <p:nvSpPr>
          <p:cNvPr id="28" name="Text 23"/>
          <p:cNvSpPr/>
          <p:nvPr/>
        </p:nvSpPr>
        <p:spPr>
          <a:xfrm>
            <a:off x="6181344" y="1517904"/>
            <a:ext cx="2340864" cy="310896"/>
          </a:xfrm>
          <a:prstGeom prst="rect">
            <a:avLst/>
          </a:prstGeom>
          <a:noFill/>
          <a:ln/>
        </p:spPr>
        <p:txBody>
          <a:bodyPr wrap="square" lIns="0" tIns="0" rIns="0" bIns="0" rtlCol="0" anchor="t"/>
          <a:lstStyle/>
          <a:p>
            <a:pPr marL="0" indent="0" algn="l">
              <a:buNone/>
            </a:pPr>
            <a:r>
              <a:rPr lang="en-US" sz="900" dirty="0">
                <a:solidFill>
                  <a:srgbClr val="EF4444"/>
                </a:solidFill>
                <a:latin typeface="Arial" pitchFamily="34" charset="0"/>
                <a:ea typeface="Arial" pitchFamily="34" charset="-122"/>
                <a:cs typeface="Arial" pitchFamily="34" charset="-120"/>
              </a:rPr>
              <a:t>·  Permanent training facility</a:t>
            </a:r>
            <a:endParaRPr lang="en-US" sz="900" dirty="0"/>
          </a:p>
        </p:txBody>
      </p:sp>
      <p:sp>
        <p:nvSpPr>
          <p:cNvPr id="29" name="Text 24"/>
          <p:cNvSpPr/>
          <p:nvPr/>
        </p:nvSpPr>
        <p:spPr>
          <a:xfrm>
            <a:off x="6181344" y="1847088"/>
            <a:ext cx="2340864" cy="310896"/>
          </a:xfrm>
          <a:prstGeom prst="rect">
            <a:avLst/>
          </a:prstGeom>
          <a:noFill/>
          <a:ln/>
        </p:spPr>
        <p:txBody>
          <a:bodyPr wrap="square" lIns="0" tIns="0" rIns="0" bIns="0" rtlCol="0" anchor="t"/>
          <a:lstStyle/>
          <a:p>
            <a:pPr marL="0" indent="0" algn="l">
              <a:buNone/>
            </a:pPr>
            <a:r>
              <a:rPr lang="en-US" sz="900" dirty="0">
                <a:solidFill>
                  <a:srgbClr val="FFFFFF"/>
                </a:solidFill>
                <a:latin typeface="Arial" pitchFamily="34" charset="0"/>
                <a:ea typeface="Arial" pitchFamily="34" charset="-122"/>
                <a:cs typeface="Arial" pitchFamily="34" charset="-120"/>
              </a:rPr>
              <a:t>·  BBV basketball reg. by Aug 30</a:t>
            </a:r>
            <a:endParaRPr lang="en-US" sz="900" dirty="0"/>
          </a:p>
        </p:txBody>
      </p:sp>
      <p:sp>
        <p:nvSpPr>
          <p:cNvPr id="30" name="Shape 25"/>
          <p:cNvSpPr/>
          <p:nvPr/>
        </p:nvSpPr>
        <p:spPr>
          <a:xfrm>
            <a:off x="347472" y="3566160"/>
            <a:ext cx="8449056" cy="1316736"/>
          </a:xfrm>
          <a:prstGeom prst="roundRect">
            <a:avLst>
              <a:gd name="adj" fmla="val 5556"/>
            </a:avLst>
          </a:prstGeom>
          <a:solidFill>
            <a:srgbClr val="120505"/>
          </a:solidFill>
          <a:ln w="19050">
            <a:solidFill>
              <a:srgbClr val="EF4444"/>
            </a:solidFill>
            <a:prstDash val="solid"/>
          </a:ln>
          <a:effectLst>
            <a:outerShdw blurRad="177800" dist="50800" dir="8100000" algn="bl" rotWithShape="0">
              <a:srgbClr val="000000">
                <a:alpha val="28000"/>
              </a:srgbClr>
            </a:outerShdw>
          </a:effectLst>
        </p:spPr>
        <p:txBody>
          <a:bodyPr/>
          <a:lstStyle/>
          <a:p>
            <a:endParaRPr lang="de-FR"/>
          </a:p>
        </p:txBody>
      </p:sp>
      <p:pic>
        <p:nvPicPr>
          <p:cNvPr id="31" name="Image 3" descr="preencoded.png"/>
          <p:cNvPicPr>
            <a:picLocks noChangeAspect="1"/>
          </p:cNvPicPr>
          <p:nvPr/>
        </p:nvPicPr>
        <p:blipFill>
          <a:blip r:embed="rId6"/>
          <a:stretch>
            <a:fillRect/>
          </a:stretch>
        </p:blipFill>
        <p:spPr>
          <a:xfrm>
            <a:off x="502920" y="3630168"/>
            <a:ext cx="384048" cy="384048"/>
          </a:xfrm>
          <a:prstGeom prst="rect">
            <a:avLst/>
          </a:prstGeom>
        </p:spPr>
      </p:pic>
      <p:sp>
        <p:nvSpPr>
          <p:cNvPr id="32" name="Text 26"/>
          <p:cNvSpPr/>
          <p:nvPr/>
        </p:nvSpPr>
        <p:spPr>
          <a:xfrm>
            <a:off x="950976" y="3602736"/>
            <a:ext cx="7498080" cy="329184"/>
          </a:xfrm>
          <a:prstGeom prst="rect">
            <a:avLst/>
          </a:prstGeom>
          <a:noFill/>
          <a:ln/>
        </p:spPr>
        <p:txBody>
          <a:bodyPr wrap="square" lIns="0" tIns="0" rIns="0" bIns="0" rtlCol="0" anchor="ctr"/>
          <a:lstStyle/>
          <a:p>
            <a:pPr marL="0" indent="0" algn="l">
              <a:buNone/>
            </a:pPr>
            <a:r>
              <a:rPr lang="en-US" sz="900" b="1" kern="0" spc="150" dirty="0">
                <a:solidFill>
                  <a:srgbClr val="EF4444"/>
                </a:solidFill>
                <a:latin typeface="Arial" pitchFamily="34" charset="0"/>
                <a:ea typeface="Arial" pitchFamily="34" charset="-122"/>
                <a:cs typeface="Arial" pitchFamily="34" charset="-120"/>
              </a:rPr>
              <a:t>OUR IMMEDIATE PRIORITY: PERMANENT TRAINING GROUND</a:t>
            </a:r>
            <a:endParaRPr lang="en-US" sz="900" dirty="0"/>
          </a:p>
        </p:txBody>
      </p:sp>
      <p:sp>
        <p:nvSpPr>
          <p:cNvPr id="33" name="Text 27"/>
          <p:cNvSpPr/>
          <p:nvPr/>
        </p:nvSpPr>
        <p:spPr>
          <a:xfrm>
            <a:off x="502920" y="3986784"/>
            <a:ext cx="7955280" cy="658368"/>
          </a:xfrm>
          <a:prstGeom prst="rect">
            <a:avLst/>
          </a:prstGeom>
          <a:noFill/>
          <a:ln/>
        </p:spPr>
        <p:txBody>
          <a:bodyPr wrap="square" lIns="0" tIns="0" rIns="0" bIns="0" rtlCol="0" anchor="t"/>
          <a:lstStyle/>
          <a:p>
            <a:pPr marL="0" indent="0" algn="l">
              <a:buNone/>
            </a:pPr>
            <a:r>
              <a:rPr lang="en-US" sz="950" dirty="0">
                <a:solidFill>
                  <a:srgbClr val="FFFFFF"/>
                </a:solidFill>
                <a:latin typeface="Arial" pitchFamily="34" charset="0"/>
                <a:ea typeface="Arial" pitchFamily="34" charset="-122"/>
                <a:cs typeface="Arial" pitchFamily="34" charset="-120"/>
              </a:rPr>
              <a:t>We are actively working with district sports offices and football clubs to secure a permanent facility. We are fully flexible on:  location  ·  weekday  ·  training time  ·  shared use.</a:t>
            </a:r>
            <a:endParaRPr lang="en-US" sz="950" dirty="0"/>
          </a:p>
        </p:txBody>
      </p:sp>
      <p:sp>
        <p:nvSpPr>
          <p:cNvPr id="34" name="Shape 28"/>
          <p:cNvSpPr/>
          <p:nvPr/>
        </p:nvSpPr>
        <p:spPr>
          <a:xfrm>
            <a:off x="0" y="4754880"/>
            <a:ext cx="9144000" cy="388620"/>
          </a:xfrm>
          <a:prstGeom prst="rect">
            <a:avLst/>
          </a:prstGeom>
          <a:solidFill>
            <a:srgbClr val="002855"/>
          </a:solidFill>
          <a:ln w="12700">
            <a:solidFill>
              <a:srgbClr val="002855"/>
            </a:solidFill>
            <a:prstDash val="solid"/>
          </a:ln>
        </p:spPr>
        <p:txBody>
          <a:bodyPr/>
          <a:lstStyle/>
          <a:p>
            <a:endParaRPr lang="de-FR"/>
          </a:p>
        </p:txBody>
      </p:sp>
      <p:sp>
        <p:nvSpPr>
          <p:cNvPr id="35" name="Shape 29"/>
          <p:cNvSpPr/>
          <p:nvPr/>
        </p:nvSpPr>
        <p:spPr>
          <a:xfrm>
            <a:off x="0" y="4754880"/>
            <a:ext cx="9144000" cy="22860"/>
          </a:xfrm>
          <a:prstGeom prst="rect">
            <a:avLst/>
          </a:prstGeom>
          <a:solidFill>
            <a:srgbClr val="E0A106"/>
          </a:solidFill>
          <a:ln w="12700">
            <a:solidFill>
              <a:srgbClr val="E0A106"/>
            </a:solidFill>
            <a:prstDash val="solid"/>
          </a:ln>
        </p:spPr>
        <p:txBody>
          <a:bodyPr/>
          <a:lstStyle/>
          <a:p>
            <a:endParaRPr lang="de-FR"/>
          </a:p>
        </p:txBody>
      </p:sp>
      <p:sp>
        <p:nvSpPr>
          <p:cNvPr id="36" name="Text 30"/>
          <p:cNvSpPr/>
          <p:nvPr/>
        </p:nvSpPr>
        <p:spPr>
          <a:xfrm>
            <a:off x="347472" y="4773168"/>
            <a:ext cx="8449056" cy="347472"/>
          </a:xfrm>
          <a:prstGeom prst="rect">
            <a:avLst/>
          </a:prstGeom>
          <a:noFill/>
          <a:ln/>
        </p:spPr>
        <p:txBody>
          <a:bodyPr wrap="square" lIns="0" tIns="0" rIns="0" bIns="0" rtlCol="0" anchor="ctr"/>
          <a:lstStyle/>
          <a:p>
            <a:pPr marL="0" indent="0" algn="ctr">
              <a:buNone/>
            </a:pPr>
            <a:r>
              <a:rPr lang="en-US" sz="1100" b="1" i="1" dirty="0">
                <a:solidFill>
                  <a:srgbClr val="E0A106"/>
                </a:solidFill>
                <a:latin typeface="Arial" pitchFamily="34" charset="0"/>
                <a:ea typeface="Arial" pitchFamily="34" charset="-122"/>
                <a:cs typeface="Arial" pitchFamily="34" charset="-120"/>
              </a:rPr>
              <a:t>The club is ready. The missing piece is our permanent home.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essions/ecstatic-optimistic-johnson/mnt/outputs/squad_dark.jp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1628">
              <a:alpha val="82000"/>
            </a:srgbClr>
          </a:solidFill>
          <a:ln w="12700">
            <a:solidFill>
              <a:srgbClr val="0B1628"/>
            </a:solidFill>
            <a:prstDash val="solid"/>
          </a:ln>
        </p:spPr>
        <p:txBody>
          <a:bodyPr/>
          <a:lstStyle/>
          <a:p>
            <a:endParaRPr lang="de-FR"/>
          </a:p>
        </p:txBody>
      </p:sp>
      <p:sp>
        <p:nvSpPr>
          <p:cNvPr id="4" name="Text 1"/>
          <p:cNvSpPr/>
          <p:nvPr/>
        </p:nvSpPr>
        <p:spPr>
          <a:xfrm>
            <a:off x="347472" y="228600"/>
            <a:ext cx="8449056" cy="310896"/>
          </a:xfrm>
          <a:prstGeom prst="rect">
            <a:avLst/>
          </a:prstGeom>
          <a:noFill/>
          <a:ln/>
        </p:spPr>
        <p:txBody>
          <a:bodyPr wrap="square" lIns="0" tIns="0" rIns="0" bIns="0" rtlCol="0" anchor="ctr"/>
          <a:lstStyle/>
          <a:p>
            <a:pPr marL="0" indent="0" algn="l">
              <a:buNone/>
            </a:pPr>
            <a:r>
              <a:rPr lang="en-US" sz="900" b="1" kern="0" spc="400" dirty="0">
                <a:solidFill>
                  <a:srgbClr val="E0A106"/>
                </a:solidFill>
                <a:latin typeface="Arial" pitchFamily="34" charset="0"/>
                <a:ea typeface="Arial" pitchFamily="34" charset="-122"/>
                <a:cs typeface="Arial" pitchFamily="34" charset="-120"/>
              </a:rPr>
              <a:t>VISION 2030</a:t>
            </a:r>
            <a:endParaRPr lang="en-US" sz="900" dirty="0"/>
          </a:p>
        </p:txBody>
      </p:sp>
      <p:sp>
        <p:nvSpPr>
          <p:cNvPr id="5" name="Text 2"/>
          <p:cNvSpPr/>
          <p:nvPr/>
        </p:nvSpPr>
        <p:spPr>
          <a:xfrm>
            <a:off x="347472" y="512064"/>
            <a:ext cx="731520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Arial Black" pitchFamily="34" charset="0"/>
                <a:ea typeface="Arial Black" pitchFamily="34" charset="-122"/>
                <a:cs typeface="Arial Black" pitchFamily="34" charset="-120"/>
              </a:rPr>
              <a:t>Building More Than A Football Club.</a:t>
            </a:r>
            <a:endParaRPr lang="en-US" sz="2200" dirty="0"/>
          </a:p>
        </p:txBody>
      </p:sp>
      <p:sp>
        <p:nvSpPr>
          <p:cNvPr id="6" name="Shape 3"/>
          <p:cNvSpPr/>
          <p:nvPr/>
        </p:nvSpPr>
        <p:spPr>
          <a:xfrm>
            <a:off x="347472" y="969264"/>
            <a:ext cx="8449056" cy="22860"/>
          </a:xfrm>
          <a:prstGeom prst="rect">
            <a:avLst/>
          </a:prstGeom>
          <a:solidFill>
            <a:srgbClr val="E0A106">
              <a:alpha val="60000"/>
            </a:srgbClr>
          </a:solidFill>
          <a:ln w="12700">
            <a:solidFill>
              <a:srgbClr val="E0A106"/>
            </a:solidFill>
            <a:prstDash val="solid"/>
          </a:ln>
        </p:spPr>
        <p:txBody>
          <a:bodyPr/>
          <a:lstStyle/>
          <a:p>
            <a:endParaRPr lang="de-FR"/>
          </a:p>
        </p:txBody>
      </p:sp>
      <p:sp>
        <p:nvSpPr>
          <p:cNvPr id="7" name="Shape 4"/>
          <p:cNvSpPr/>
          <p:nvPr/>
        </p:nvSpPr>
        <p:spPr>
          <a:xfrm>
            <a:off x="347472" y="1078992"/>
            <a:ext cx="2286000" cy="3017520"/>
          </a:xfrm>
          <a:prstGeom prst="roundRect">
            <a:avLst>
              <a:gd name="adj" fmla="val 3200"/>
            </a:avLst>
          </a:prstGeom>
          <a:solidFill>
            <a:srgbClr val="051A0F"/>
          </a:solidFill>
          <a:ln w="15240">
            <a:solidFill>
              <a:srgbClr val="22C55E"/>
            </a:solidFill>
            <a:prstDash val="solid"/>
          </a:ln>
          <a:effectLst>
            <a:outerShdw blurRad="177800" dist="50800" dir="8100000" algn="bl" rotWithShape="0">
              <a:srgbClr val="000000">
                <a:alpha val="28000"/>
              </a:srgbClr>
            </a:outerShdw>
          </a:effectLst>
        </p:spPr>
        <p:txBody>
          <a:bodyPr/>
          <a:lstStyle/>
          <a:p>
            <a:endParaRPr lang="de-FR"/>
          </a:p>
        </p:txBody>
      </p:sp>
      <p:sp>
        <p:nvSpPr>
          <p:cNvPr id="8" name="Shape 5"/>
          <p:cNvSpPr/>
          <p:nvPr/>
        </p:nvSpPr>
        <p:spPr>
          <a:xfrm>
            <a:off x="475488" y="1207008"/>
            <a:ext cx="2029968" cy="274320"/>
          </a:xfrm>
          <a:prstGeom prst="roundRect">
            <a:avLst>
              <a:gd name="adj" fmla="val 13333"/>
            </a:avLst>
          </a:prstGeom>
          <a:solidFill>
            <a:srgbClr val="22C55E">
              <a:alpha val="75000"/>
            </a:srgbClr>
          </a:solidFill>
          <a:ln w="12700">
            <a:solidFill>
              <a:srgbClr val="22C55E"/>
            </a:solidFill>
            <a:prstDash val="solid"/>
          </a:ln>
        </p:spPr>
        <p:txBody>
          <a:bodyPr/>
          <a:lstStyle/>
          <a:p>
            <a:endParaRPr lang="de-FR"/>
          </a:p>
        </p:txBody>
      </p:sp>
      <p:sp>
        <p:nvSpPr>
          <p:cNvPr id="9" name="Text 6"/>
          <p:cNvSpPr/>
          <p:nvPr/>
        </p:nvSpPr>
        <p:spPr>
          <a:xfrm>
            <a:off x="475488" y="1207008"/>
            <a:ext cx="2029968" cy="274320"/>
          </a:xfrm>
          <a:prstGeom prst="rect">
            <a:avLst/>
          </a:prstGeom>
          <a:noFill/>
          <a:ln/>
        </p:spPr>
        <p:txBody>
          <a:bodyPr wrap="square" lIns="0" tIns="0" rIns="0" bIns="0" rtlCol="0" anchor="ctr"/>
          <a:lstStyle/>
          <a:p>
            <a:pPr marL="0" indent="0" algn="ctr">
              <a:buNone/>
            </a:pPr>
            <a:r>
              <a:rPr lang="en-US" sz="750" b="1" kern="0" spc="100" dirty="0">
                <a:solidFill>
                  <a:srgbClr val="22C55E"/>
                </a:solidFill>
                <a:latin typeface="Arial" pitchFamily="34" charset="0"/>
                <a:ea typeface="Arial" pitchFamily="34" charset="-122"/>
                <a:cs typeface="Arial" pitchFamily="34" charset="-120"/>
              </a:rPr>
              <a:t>PHASE 1  ·  NOW</a:t>
            </a:r>
            <a:endParaRPr lang="en-US" sz="750" dirty="0"/>
          </a:p>
        </p:txBody>
      </p:sp>
      <p:pic>
        <p:nvPicPr>
          <p:cNvPr id="10" name="Image 1" descr="preencoded.png"/>
          <p:cNvPicPr>
            <a:picLocks noChangeAspect="1"/>
          </p:cNvPicPr>
          <p:nvPr/>
        </p:nvPicPr>
        <p:blipFill>
          <a:blip r:embed="rId4"/>
          <a:stretch>
            <a:fillRect/>
          </a:stretch>
        </p:blipFill>
        <p:spPr>
          <a:xfrm>
            <a:off x="1216152" y="1591056"/>
            <a:ext cx="548640" cy="548640"/>
          </a:xfrm>
          <a:prstGeom prst="rect">
            <a:avLst/>
          </a:prstGeom>
        </p:spPr>
      </p:pic>
      <p:sp>
        <p:nvSpPr>
          <p:cNvPr id="11" name="Text 7"/>
          <p:cNvSpPr/>
          <p:nvPr/>
        </p:nvSpPr>
        <p:spPr>
          <a:xfrm>
            <a:off x="457200" y="2231136"/>
            <a:ext cx="2066544"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Football First</a:t>
            </a:r>
            <a:endParaRPr lang="en-US" sz="1400" dirty="0"/>
          </a:p>
        </p:txBody>
      </p:sp>
      <p:sp>
        <p:nvSpPr>
          <p:cNvPr id="12" name="Shape 8"/>
          <p:cNvSpPr/>
          <p:nvPr/>
        </p:nvSpPr>
        <p:spPr>
          <a:xfrm>
            <a:off x="475488" y="2688336"/>
            <a:ext cx="2029968" cy="16459"/>
          </a:xfrm>
          <a:prstGeom prst="rect">
            <a:avLst/>
          </a:prstGeom>
          <a:solidFill>
            <a:srgbClr val="22C55E">
              <a:alpha val="45000"/>
            </a:srgbClr>
          </a:solidFill>
          <a:ln w="12700">
            <a:solidFill>
              <a:srgbClr val="22C55E"/>
            </a:solidFill>
            <a:prstDash val="solid"/>
          </a:ln>
        </p:spPr>
        <p:txBody>
          <a:bodyPr/>
          <a:lstStyle/>
          <a:p>
            <a:endParaRPr lang="de-FR"/>
          </a:p>
        </p:txBody>
      </p:sp>
      <p:sp>
        <p:nvSpPr>
          <p:cNvPr id="13" name="Text 9"/>
          <p:cNvSpPr/>
          <p:nvPr/>
        </p:nvSpPr>
        <p:spPr>
          <a:xfrm>
            <a:off x="475488" y="2798064"/>
            <a:ext cx="2029968" cy="1188720"/>
          </a:xfrm>
          <a:prstGeom prst="rect">
            <a:avLst/>
          </a:prstGeom>
          <a:noFill/>
          <a:ln/>
        </p:spPr>
        <p:txBody>
          <a:bodyPr wrap="square" lIns="0" tIns="0" rIns="0" bIns="0" rtlCol="0" anchor="t"/>
          <a:lstStyle/>
          <a:p>
            <a:pPr marL="0" indent="0" algn="ctr">
              <a:buNone/>
            </a:pPr>
            <a:r>
              <a:rPr lang="en-US" sz="950" dirty="0">
                <a:solidFill>
                  <a:srgbClr val="FFFFFF"/>
                </a:solidFill>
                <a:latin typeface="Arial" pitchFamily="34" charset="0"/>
                <a:ea typeface="Arial" pitchFamily="34" charset="-122"/>
                <a:cs typeface="Arial" pitchFamily="34" charset="-120"/>
              </a:rPr>
              <a:t>Establish official</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league football in Berlin</a:t>
            </a:r>
            <a:endParaRPr lang="en-US" sz="950" dirty="0"/>
          </a:p>
        </p:txBody>
      </p:sp>
      <p:sp>
        <p:nvSpPr>
          <p:cNvPr id="14" name="Shape 10"/>
          <p:cNvSpPr/>
          <p:nvPr/>
        </p:nvSpPr>
        <p:spPr>
          <a:xfrm>
            <a:off x="2670048" y="2578608"/>
            <a:ext cx="155448" cy="20117"/>
          </a:xfrm>
          <a:prstGeom prst="rect">
            <a:avLst/>
          </a:prstGeom>
          <a:solidFill>
            <a:srgbClr val="E0A106">
              <a:alpha val="70000"/>
            </a:srgbClr>
          </a:solidFill>
          <a:ln w="12700">
            <a:solidFill>
              <a:srgbClr val="E0A106"/>
            </a:solidFill>
            <a:prstDash val="solid"/>
          </a:ln>
        </p:spPr>
        <p:txBody>
          <a:bodyPr/>
          <a:lstStyle/>
          <a:p>
            <a:endParaRPr lang="de-FR"/>
          </a:p>
        </p:txBody>
      </p:sp>
      <p:sp>
        <p:nvSpPr>
          <p:cNvPr id="15" name="Shape 11"/>
          <p:cNvSpPr/>
          <p:nvPr/>
        </p:nvSpPr>
        <p:spPr>
          <a:xfrm>
            <a:off x="2862072" y="1078992"/>
            <a:ext cx="2286000" cy="3017520"/>
          </a:xfrm>
          <a:prstGeom prst="roundRect">
            <a:avLst>
              <a:gd name="adj" fmla="val 3200"/>
            </a:avLst>
          </a:prstGeom>
          <a:solidFill>
            <a:srgbClr val="1A1200"/>
          </a:solidFill>
          <a:ln w="15240">
            <a:solidFill>
              <a:srgbClr val="F59E0B"/>
            </a:solidFill>
            <a:prstDash val="solid"/>
          </a:ln>
          <a:effectLst>
            <a:outerShdw blurRad="177800" dist="50800" dir="8100000" algn="bl" rotWithShape="0">
              <a:srgbClr val="000000">
                <a:alpha val="28000"/>
              </a:srgbClr>
            </a:outerShdw>
          </a:effectLst>
        </p:spPr>
        <p:txBody>
          <a:bodyPr/>
          <a:lstStyle/>
          <a:p>
            <a:endParaRPr lang="de-FR"/>
          </a:p>
        </p:txBody>
      </p:sp>
      <p:sp>
        <p:nvSpPr>
          <p:cNvPr id="16" name="Shape 12"/>
          <p:cNvSpPr/>
          <p:nvPr/>
        </p:nvSpPr>
        <p:spPr>
          <a:xfrm>
            <a:off x="2990088" y="1207008"/>
            <a:ext cx="2029968" cy="274320"/>
          </a:xfrm>
          <a:prstGeom prst="roundRect">
            <a:avLst>
              <a:gd name="adj" fmla="val 13333"/>
            </a:avLst>
          </a:prstGeom>
          <a:solidFill>
            <a:srgbClr val="F59E0B">
              <a:alpha val="75000"/>
            </a:srgbClr>
          </a:solidFill>
          <a:ln w="12700">
            <a:solidFill>
              <a:srgbClr val="F59E0B"/>
            </a:solidFill>
            <a:prstDash val="solid"/>
          </a:ln>
        </p:spPr>
        <p:txBody>
          <a:bodyPr/>
          <a:lstStyle/>
          <a:p>
            <a:endParaRPr lang="de-FR"/>
          </a:p>
        </p:txBody>
      </p:sp>
      <p:sp>
        <p:nvSpPr>
          <p:cNvPr id="17" name="Text 13"/>
          <p:cNvSpPr/>
          <p:nvPr/>
        </p:nvSpPr>
        <p:spPr>
          <a:xfrm>
            <a:off x="2990088" y="1207008"/>
            <a:ext cx="2029968" cy="274320"/>
          </a:xfrm>
          <a:prstGeom prst="rect">
            <a:avLst/>
          </a:prstGeom>
          <a:noFill/>
          <a:ln/>
        </p:spPr>
        <p:txBody>
          <a:bodyPr wrap="square" lIns="0" tIns="0" rIns="0" bIns="0" rtlCol="0" anchor="ctr"/>
          <a:lstStyle/>
          <a:p>
            <a:pPr marL="0" indent="0" algn="ctr">
              <a:buNone/>
            </a:pPr>
            <a:r>
              <a:rPr lang="en-US" sz="750" b="1" kern="0" spc="100" dirty="0">
                <a:solidFill>
                  <a:srgbClr val="F59E0B"/>
                </a:solidFill>
                <a:latin typeface="Arial" pitchFamily="34" charset="0"/>
                <a:ea typeface="Arial" pitchFamily="34" charset="-122"/>
                <a:cs typeface="Arial" pitchFamily="34" charset="-120"/>
              </a:rPr>
              <a:t>PHASE 2  ·  2026</a:t>
            </a:r>
            <a:endParaRPr lang="en-US" sz="750" dirty="0"/>
          </a:p>
        </p:txBody>
      </p:sp>
      <p:pic>
        <p:nvPicPr>
          <p:cNvPr id="18" name="Image 2" descr="preencoded.png"/>
          <p:cNvPicPr>
            <a:picLocks noChangeAspect="1"/>
          </p:cNvPicPr>
          <p:nvPr/>
        </p:nvPicPr>
        <p:blipFill>
          <a:blip r:embed="rId5"/>
          <a:stretch>
            <a:fillRect/>
          </a:stretch>
        </p:blipFill>
        <p:spPr>
          <a:xfrm>
            <a:off x="3730752" y="1591056"/>
            <a:ext cx="548640" cy="548640"/>
          </a:xfrm>
          <a:prstGeom prst="rect">
            <a:avLst/>
          </a:prstGeom>
        </p:spPr>
      </p:pic>
      <p:sp>
        <p:nvSpPr>
          <p:cNvPr id="19" name="Text 14"/>
          <p:cNvSpPr/>
          <p:nvPr/>
        </p:nvSpPr>
        <p:spPr>
          <a:xfrm>
            <a:off x="2971800" y="2231136"/>
            <a:ext cx="2066544"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Basketball</a:t>
            </a:r>
            <a:endParaRPr lang="en-US" sz="1400" dirty="0"/>
          </a:p>
        </p:txBody>
      </p:sp>
      <p:sp>
        <p:nvSpPr>
          <p:cNvPr id="20" name="Shape 15"/>
          <p:cNvSpPr/>
          <p:nvPr/>
        </p:nvSpPr>
        <p:spPr>
          <a:xfrm>
            <a:off x="2990088" y="2688336"/>
            <a:ext cx="2029968" cy="16459"/>
          </a:xfrm>
          <a:prstGeom prst="rect">
            <a:avLst/>
          </a:prstGeom>
          <a:solidFill>
            <a:srgbClr val="F59E0B">
              <a:alpha val="45000"/>
            </a:srgbClr>
          </a:solidFill>
          <a:ln w="12700">
            <a:solidFill>
              <a:srgbClr val="F59E0B"/>
            </a:solidFill>
            <a:prstDash val="solid"/>
          </a:ln>
        </p:spPr>
        <p:txBody>
          <a:bodyPr/>
          <a:lstStyle/>
          <a:p>
            <a:endParaRPr lang="de-FR"/>
          </a:p>
        </p:txBody>
      </p:sp>
      <p:sp>
        <p:nvSpPr>
          <p:cNvPr id="21" name="Text 16"/>
          <p:cNvSpPr/>
          <p:nvPr/>
        </p:nvSpPr>
        <p:spPr>
          <a:xfrm>
            <a:off x="2990088" y="2798064"/>
            <a:ext cx="2029968" cy="1188720"/>
          </a:xfrm>
          <a:prstGeom prst="rect">
            <a:avLst/>
          </a:prstGeom>
          <a:noFill/>
          <a:ln/>
        </p:spPr>
        <p:txBody>
          <a:bodyPr wrap="square" lIns="0" tIns="0" rIns="0" bIns="0" rtlCol="0" anchor="t"/>
          <a:lstStyle/>
          <a:p>
            <a:pPr marL="0" indent="0" algn="ctr">
              <a:buNone/>
            </a:pPr>
            <a:r>
              <a:rPr lang="en-US" sz="950" dirty="0">
                <a:solidFill>
                  <a:srgbClr val="FFFFFF"/>
                </a:solidFill>
                <a:latin typeface="Arial" pitchFamily="34" charset="0"/>
                <a:ea typeface="Arial" pitchFamily="34" charset="-122"/>
                <a:cs typeface="Arial" pitchFamily="34" charset="-120"/>
              </a:rPr>
              <a:t>Launch basketball</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dept. · 25+ members</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BBV registration</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by Aug 2026</a:t>
            </a:r>
            <a:endParaRPr lang="en-US" sz="950" dirty="0"/>
          </a:p>
        </p:txBody>
      </p:sp>
      <p:sp>
        <p:nvSpPr>
          <p:cNvPr id="22" name="Shape 17"/>
          <p:cNvSpPr/>
          <p:nvPr/>
        </p:nvSpPr>
        <p:spPr>
          <a:xfrm>
            <a:off x="5184648" y="2578608"/>
            <a:ext cx="155448" cy="20117"/>
          </a:xfrm>
          <a:prstGeom prst="rect">
            <a:avLst/>
          </a:prstGeom>
          <a:solidFill>
            <a:srgbClr val="E0A106">
              <a:alpha val="70000"/>
            </a:srgbClr>
          </a:solidFill>
          <a:ln w="12700">
            <a:solidFill>
              <a:srgbClr val="E0A106"/>
            </a:solidFill>
            <a:prstDash val="solid"/>
          </a:ln>
        </p:spPr>
        <p:txBody>
          <a:bodyPr/>
          <a:lstStyle/>
          <a:p>
            <a:endParaRPr lang="de-FR"/>
          </a:p>
        </p:txBody>
      </p:sp>
      <p:sp>
        <p:nvSpPr>
          <p:cNvPr id="23" name="Shape 18"/>
          <p:cNvSpPr/>
          <p:nvPr/>
        </p:nvSpPr>
        <p:spPr>
          <a:xfrm>
            <a:off x="5376672" y="1078992"/>
            <a:ext cx="3163824" cy="3017520"/>
          </a:xfrm>
          <a:prstGeom prst="roundRect">
            <a:avLst>
              <a:gd name="adj" fmla="val 2424"/>
            </a:avLst>
          </a:prstGeom>
          <a:solidFill>
            <a:srgbClr val="0D1F3C"/>
          </a:solidFill>
          <a:ln w="1524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sp>
        <p:nvSpPr>
          <p:cNvPr id="24" name="Shape 19"/>
          <p:cNvSpPr/>
          <p:nvPr/>
        </p:nvSpPr>
        <p:spPr>
          <a:xfrm>
            <a:off x="5504688" y="1207008"/>
            <a:ext cx="2907792" cy="274320"/>
          </a:xfrm>
          <a:prstGeom prst="roundRect">
            <a:avLst>
              <a:gd name="adj" fmla="val 13333"/>
            </a:avLst>
          </a:prstGeom>
          <a:solidFill>
            <a:srgbClr val="E0A106">
              <a:alpha val="75000"/>
            </a:srgbClr>
          </a:solidFill>
          <a:ln w="12700">
            <a:solidFill>
              <a:srgbClr val="E0A106"/>
            </a:solidFill>
            <a:prstDash val="solid"/>
          </a:ln>
        </p:spPr>
        <p:txBody>
          <a:bodyPr/>
          <a:lstStyle/>
          <a:p>
            <a:endParaRPr lang="de-FR"/>
          </a:p>
        </p:txBody>
      </p:sp>
      <p:sp>
        <p:nvSpPr>
          <p:cNvPr id="25" name="Text 20"/>
          <p:cNvSpPr/>
          <p:nvPr/>
        </p:nvSpPr>
        <p:spPr>
          <a:xfrm>
            <a:off x="5504688" y="1207008"/>
            <a:ext cx="2907792" cy="274320"/>
          </a:xfrm>
          <a:prstGeom prst="rect">
            <a:avLst/>
          </a:prstGeom>
          <a:noFill/>
          <a:ln/>
        </p:spPr>
        <p:txBody>
          <a:bodyPr wrap="square" lIns="0" tIns="0" rIns="0" bIns="0" rtlCol="0" anchor="ctr"/>
          <a:lstStyle/>
          <a:p>
            <a:pPr marL="0" indent="0" algn="ctr">
              <a:buNone/>
            </a:pPr>
            <a:r>
              <a:rPr lang="en-US" sz="750" b="1" kern="0" spc="100" dirty="0">
                <a:solidFill>
                  <a:srgbClr val="E0A106"/>
                </a:solidFill>
                <a:latin typeface="Arial" pitchFamily="34" charset="0"/>
                <a:ea typeface="Arial" pitchFamily="34" charset="-122"/>
                <a:cs typeface="Arial" pitchFamily="34" charset="-120"/>
              </a:rPr>
              <a:t>FUTURE VISION</a:t>
            </a:r>
            <a:endParaRPr lang="en-US" sz="750" dirty="0"/>
          </a:p>
        </p:txBody>
      </p:sp>
      <p:pic>
        <p:nvPicPr>
          <p:cNvPr id="26" name="Image 3" descr="preencoded.png"/>
          <p:cNvPicPr>
            <a:picLocks noChangeAspect="1"/>
          </p:cNvPicPr>
          <p:nvPr/>
        </p:nvPicPr>
        <p:blipFill>
          <a:blip r:embed="rId6"/>
          <a:stretch>
            <a:fillRect/>
          </a:stretch>
        </p:blipFill>
        <p:spPr>
          <a:xfrm>
            <a:off x="6684264" y="1591056"/>
            <a:ext cx="548640" cy="548640"/>
          </a:xfrm>
          <a:prstGeom prst="rect">
            <a:avLst/>
          </a:prstGeom>
        </p:spPr>
      </p:pic>
      <p:sp>
        <p:nvSpPr>
          <p:cNvPr id="27" name="Text 21"/>
          <p:cNvSpPr/>
          <p:nvPr/>
        </p:nvSpPr>
        <p:spPr>
          <a:xfrm>
            <a:off x="5486400" y="2231136"/>
            <a:ext cx="2944368"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Full Sports Club</a:t>
            </a:r>
            <a:endParaRPr lang="en-US" sz="1400" dirty="0"/>
          </a:p>
        </p:txBody>
      </p:sp>
      <p:sp>
        <p:nvSpPr>
          <p:cNvPr id="28" name="Shape 22"/>
          <p:cNvSpPr/>
          <p:nvPr/>
        </p:nvSpPr>
        <p:spPr>
          <a:xfrm>
            <a:off x="5504688" y="2688336"/>
            <a:ext cx="2907792" cy="16459"/>
          </a:xfrm>
          <a:prstGeom prst="rect">
            <a:avLst/>
          </a:prstGeom>
          <a:solidFill>
            <a:srgbClr val="E0A106">
              <a:alpha val="45000"/>
            </a:srgbClr>
          </a:solidFill>
          <a:ln w="12700">
            <a:solidFill>
              <a:srgbClr val="E0A106"/>
            </a:solidFill>
            <a:prstDash val="solid"/>
          </a:ln>
        </p:spPr>
        <p:txBody>
          <a:bodyPr/>
          <a:lstStyle/>
          <a:p>
            <a:endParaRPr lang="de-FR"/>
          </a:p>
        </p:txBody>
      </p:sp>
      <p:sp>
        <p:nvSpPr>
          <p:cNvPr id="29" name="Text 23"/>
          <p:cNvSpPr/>
          <p:nvPr/>
        </p:nvSpPr>
        <p:spPr>
          <a:xfrm>
            <a:off x="5504688" y="2798064"/>
            <a:ext cx="2907792" cy="1188720"/>
          </a:xfrm>
          <a:prstGeom prst="rect">
            <a:avLst/>
          </a:prstGeom>
          <a:noFill/>
          <a:ln/>
        </p:spPr>
        <p:txBody>
          <a:bodyPr wrap="square" lIns="0" tIns="0" rIns="0" bIns="0" rtlCol="0" anchor="t"/>
          <a:lstStyle/>
          <a:p>
            <a:pPr marL="0" indent="0" algn="ctr">
              <a:buNone/>
            </a:pPr>
            <a:r>
              <a:rPr lang="en-US" sz="950" dirty="0">
                <a:solidFill>
                  <a:srgbClr val="FFFFFF"/>
                </a:solidFill>
                <a:latin typeface="Arial" pitchFamily="34" charset="0"/>
                <a:ea typeface="Arial" pitchFamily="34" charset="-122"/>
                <a:cs typeface="Arial" pitchFamily="34" charset="-120"/>
              </a:rPr>
              <a:t>Handball  ·  Volleyball</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Tennis  ·  Youth dev.</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Women's football</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Community events</a:t>
            </a:r>
            <a:endParaRPr lang="en-US" sz="950" dirty="0"/>
          </a:p>
        </p:txBody>
      </p:sp>
      <p:sp>
        <p:nvSpPr>
          <p:cNvPr id="30" name="Shape 24"/>
          <p:cNvSpPr/>
          <p:nvPr/>
        </p:nvSpPr>
        <p:spPr>
          <a:xfrm>
            <a:off x="0" y="4754880"/>
            <a:ext cx="9144000" cy="388620"/>
          </a:xfrm>
          <a:prstGeom prst="rect">
            <a:avLst/>
          </a:prstGeom>
          <a:solidFill>
            <a:srgbClr val="002855"/>
          </a:solidFill>
          <a:ln w="12700">
            <a:solidFill>
              <a:srgbClr val="002855"/>
            </a:solidFill>
            <a:prstDash val="solid"/>
          </a:ln>
        </p:spPr>
        <p:txBody>
          <a:bodyPr/>
          <a:lstStyle/>
          <a:p>
            <a:endParaRPr lang="de-FR"/>
          </a:p>
        </p:txBody>
      </p:sp>
      <p:sp>
        <p:nvSpPr>
          <p:cNvPr id="31" name="Shape 25"/>
          <p:cNvSpPr/>
          <p:nvPr/>
        </p:nvSpPr>
        <p:spPr>
          <a:xfrm>
            <a:off x="0" y="4754880"/>
            <a:ext cx="9144000" cy="22860"/>
          </a:xfrm>
          <a:prstGeom prst="rect">
            <a:avLst/>
          </a:prstGeom>
          <a:solidFill>
            <a:srgbClr val="E0A106"/>
          </a:solidFill>
          <a:ln w="12700">
            <a:solidFill>
              <a:srgbClr val="E0A106"/>
            </a:solidFill>
            <a:prstDash val="solid"/>
          </a:ln>
        </p:spPr>
        <p:txBody>
          <a:bodyPr/>
          <a:lstStyle/>
          <a:p>
            <a:endParaRPr lang="de-FR"/>
          </a:p>
        </p:txBody>
      </p:sp>
      <p:sp>
        <p:nvSpPr>
          <p:cNvPr id="32" name="Text 26"/>
          <p:cNvSpPr/>
          <p:nvPr/>
        </p:nvSpPr>
        <p:spPr>
          <a:xfrm>
            <a:off x="347472" y="4773168"/>
            <a:ext cx="8449056" cy="347472"/>
          </a:xfrm>
          <a:prstGeom prst="rect">
            <a:avLst/>
          </a:prstGeom>
          <a:noFill/>
          <a:ln/>
        </p:spPr>
        <p:txBody>
          <a:bodyPr wrap="square" lIns="0" tIns="0" rIns="0" bIns="0" rtlCol="0" anchor="ctr"/>
          <a:lstStyle/>
          <a:p>
            <a:pPr marL="0" indent="0" algn="ctr">
              <a:buNone/>
            </a:pPr>
            <a:r>
              <a:rPr lang="en-US" sz="950" i="1" dirty="0">
                <a:solidFill>
                  <a:srgbClr val="E0A106"/>
                </a:solidFill>
                <a:latin typeface="Arial" pitchFamily="34" charset="0"/>
                <a:ea typeface="Arial" pitchFamily="34" charset="-122"/>
                <a:cs typeface="Arial" pitchFamily="34" charset="-120"/>
              </a:rPr>
              <a:t>Our immediate priority is football. Our long-term ambition is to become one of Berlin's leading multicultural community sports clubs.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2855"/>
        </a:solidFill>
        <a:effectLst/>
      </p:bgPr>
    </p:bg>
    <p:spTree>
      <p:nvGrpSpPr>
        <p:cNvPr id="1" name=""/>
        <p:cNvGrpSpPr/>
        <p:nvPr/>
      </p:nvGrpSpPr>
      <p:grpSpPr>
        <a:xfrm>
          <a:off x="0" y="0"/>
          <a:ext cx="0" cy="0"/>
          <a:chOff x="0" y="0"/>
          <a:chExt cx="0" cy="0"/>
        </a:xfrm>
      </p:grpSpPr>
      <p:pic>
        <p:nvPicPr>
          <p:cNvPr id="2" name="Image 0" descr="/sessions/ecstatic-optimistic-johnson/mnt/outputs/hero_dark.jpg"/>
          <p:cNvPicPr>
            <a:picLocks noChangeAspect="1"/>
          </p:cNvPicPr>
          <p:nvPr/>
        </p:nvPicPr>
        <p:blipFill>
          <a:blip r:embed="rId3">
            <a:alphaModFix amt="18000"/>
          </a:blip>
          <a:stretch>
            <a:fillRect/>
          </a:stretch>
        </p:blipFill>
        <p:spPr>
          <a:xfrm>
            <a:off x="0" y="0"/>
            <a:ext cx="9144000" cy="5143500"/>
          </a:xfrm>
          <a:prstGeom prst="rect">
            <a:avLst/>
          </a:prstGeom>
        </p:spPr>
      </p:pic>
      <p:sp>
        <p:nvSpPr>
          <p:cNvPr id="3" name="Text 0"/>
          <p:cNvSpPr/>
          <p:nvPr/>
        </p:nvSpPr>
        <p:spPr>
          <a:xfrm>
            <a:off x="347472" y="182880"/>
            <a:ext cx="8449056" cy="329184"/>
          </a:xfrm>
          <a:prstGeom prst="rect">
            <a:avLst/>
          </a:prstGeom>
          <a:noFill/>
          <a:ln/>
        </p:spPr>
        <p:txBody>
          <a:bodyPr wrap="square" lIns="0" tIns="0" rIns="0" bIns="0" rtlCol="0" anchor="ctr"/>
          <a:lstStyle/>
          <a:p>
            <a:pPr marL="0" indent="0" algn="ctr">
              <a:buNone/>
            </a:pPr>
            <a:r>
              <a:rPr lang="en-US" sz="900" b="1" kern="0" spc="300" dirty="0">
                <a:solidFill>
                  <a:srgbClr val="E0A106"/>
                </a:solidFill>
                <a:latin typeface="Arial" pitchFamily="34" charset="0"/>
                <a:ea typeface="Arial" pitchFamily="34" charset="-122"/>
                <a:cs typeface="Arial" pitchFamily="34" charset="-120"/>
              </a:rPr>
              <a:t>THE NEXT CHAPTER STARTS WITH ALL OF US</a:t>
            </a:r>
            <a:endParaRPr lang="en-US" sz="900" dirty="0"/>
          </a:p>
        </p:txBody>
      </p:sp>
      <p:sp>
        <p:nvSpPr>
          <p:cNvPr id="4" name="Text 1"/>
          <p:cNvSpPr/>
          <p:nvPr/>
        </p:nvSpPr>
        <p:spPr>
          <a:xfrm>
            <a:off x="347472" y="475488"/>
            <a:ext cx="8449056" cy="402336"/>
          </a:xfrm>
          <a:prstGeom prst="rect">
            <a:avLst/>
          </a:prstGeom>
          <a:noFill/>
          <a:ln/>
        </p:spPr>
        <p:txBody>
          <a:bodyPr wrap="square" lIns="0" tIns="0" rIns="0" bIns="0" rtlCol="0" anchor="ctr"/>
          <a:lstStyle/>
          <a:p>
            <a:pPr marL="0" indent="0" algn="ctr">
              <a:buNone/>
            </a:pPr>
            <a:r>
              <a:rPr lang="en-US" sz="2000" b="1" dirty="0">
                <a:solidFill>
                  <a:srgbClr val="FFFFFF"/>
                </a:solidFill>
                <a:latin typeface="Arial Black" pitchFamily="34" charset="0"/>
                <a:ea typeface="Arial Black" pitchFamily="34" charset="-122"/>
                <a:cs typeface="Arial Black" pitchFamily="34" charset="-120"/>
              </a:rPr>
              <a:t>Every Member Can Make A Difference.</a:t>
            </a:r>
            <a:endParaRPr lang="en-US" sz="2000" dirty="0"/>
          </a:p>
        </p:txBody>
      </p:sp>
      <p:sp>
        <p:nvSpPr>
          <p:cNvPr id="5" name="Shape 2"/>
          <p:cNvSpPr/>
          <p:nvPr/>
        </p:nvSpPr>
        <p:spPr>
          <a:xfrm>
            <a:off x="347472" y="932688"/>
            <a:ext cx="8449056" cy="22860"/>
          </a:xfrm>
          <a:prstGeom prst="rect">
            <a:avLst/>
          </a:prstGeom>
          <a:solidFill>
            <a:srgbClr val="E0A106">
              <a:alpha val="60000"/>
            </a:srgbClr>
          </a:solidFill>
          <a:ln w="12700">
            <a:solidFill>
              <a:srgbClr val="E0A106"/>
            </a:solidFill>
            <a:prstDash val="solid"/>
          </a:ln>
        </p:spPr>
        <p:txBody>
          <a:bodyPr/>
          <a:lstStyle/>
          <a:p>
            <a:endParaRPr lang="de-FR"/>
          </a:p>
        </p:txBody>
      </p:sp>
      <p:sp>
        <p:nvSpPr>
          <p:cNvPr id="6" name="Shape 3"/>
          <p:cNvSpPr/>
          <p:nvPr/>
        </p:nvSpPr>
        <p:spPr>
          <a:xfrm>
            <a:off x="347472" y="1005840"/>
            <a:ext cx="2029968" cy="475488"/>
          </a:xfrm>
          <a:prstGeom prst="roundRect">
            <a:avLst>
              <a:gd name="adj" fmla="val 13462"/>
            </a:avLst>
          </a:prstGeom>
          <a:solidFill>
            <a:srgbClr val="E0A106"/>
          </a:solidFill>
          <a:ln w="1270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sp>
        <p:nvSpPr>
          <p:cNvPr id="7" name="Shape 4"/>
          <p:cNvSpPr/>
          <p:nvPr/>
        </p:nvSpPr>
        <p:spPr>
          <a:xfrm>
            <a:off x="347472" y="1371600"/>
            <a:ext cx="2029968" cy="2761488"/>
          </a:xfrm>
          <a:prstGeom prst="roundRect">
            <a:avLst>
              <a:gd name="adj" fmla="val 3153"/>
            </a:avLst>
          </a:prstGeom>
          <a:solidFill>
            <a:srgbClr val="0D1F3C"/>
          </a:solidFill>
          <a:ln w="762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pic>
        <p:nvPicPr>
          <p:cNvPr id="8" name="Image 1" descr="preencoded.png"/>
          <p:cNvPicPr>
            <a:picLocks noChangeAspect="1"/>
          </p:cNvPicPr>
          <p:nvPr/>
        </p:nvPicPr>
        <p:blipFill>
          <a:blip r:embed="rId4"/>
          <a:stretch>
            <a:fillRect/>
          </a:stretch>
        </p:blipFill>
        <p:spPr>
          <a:xfrm>
            <a:off x="1188720" y="1060704"/>
            <a:ext cx="347472" cy="347472"/>
          </a:xfrm>
          <a:prstGeom prst="rect">
            <a:avLst/>
          </a:prstGeom>
        </p:spPr>
      </p:pic>
      <p:sp>
        <p:nvSpPr>
          <p:cNvPr id="9" name="Text 5"/>
          <p:cNvSpPr/>
          <p:nvPr/>
        </p:nvSpPr>
        <p:spPr>
          <a:xfrm>
            <a:off x="438912" y="1517904"/>
            <a:ext cx="1847088" cy="329184"/>
          </a:xfrm>
          <a:prstGeom prst="rect">
            <a:avLst/>
          </a:prstGeom>
          <a:noFill/>
          <a:ln/>
        </p:spPr>
        <p:txBody>
          <a:bodyPr wrap="square" lIns="0" tIns="0" rIns="0" bIns="0" rtlCol="0" anchor="ctr"/>
          <a:lstStyle/>
          <a:p>
            <a:pPr marL="0" indent="0" algn="ctr">
              <a:buNone/>
            </a:pPr>
            <a:r>
              <a:rPr lang="en-US" sz="800" b="1" kern="0" spc="100" dirty="0">
                <a:solidFill>
                  <a:srgbClr val="E0A106"/>
                </a:solidFill>
                <a:latin typeface="Arial" pitchFamily="34" charset="0"/>
                <a:ea typeface="Arial" pitchFamily="34" charset="-122"/>
                <a:cs typeface="Arial" pitchFamily="34" charset="-120"/>
              </a:rPr>
              <a:t>MEMBERSHIP FEE</a:t>
            </a:r>
            <a:endParaRPr lang="en-US" sz="800" dirty="0"/>
          </a:p>
        </p:txBody>
      </p:sp>
      <p:sp>
        <p:nvSpPr>
          <p:cNvPr id="10" name="Text 6"/>
          <p:cNvSpPr/>
          <p:nvPr/>
        </p:nvSpPr>
        <p:spPr>
          <a:xfrm>
            <a:off x="438912" y="1828800"/>
            <a:ext cx="184708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€10 / month</a:t>
            </a:r>
            <a:endParaRPr lang="en-US" sz="1100" dirty="0"/>
          </a:p>
        </p:txBody>
      </p:sp>
      <p:sp>
        <p:nvSpPr>
          <p:cNvPr id="11" name="Shape 7"/>
          <p:cNvSpPr/>
          <p:nvPr/>
        </p:nvSpPr>
        <p:spPr>
          <a:xfrm>
            <a:off x="512064" y="2212848"/>
            <a:ext cx="1700784" cy="16459"/>
          </a:xfrm>
          <a:prstGeom prst="rect">
            <a:avLst/>
          </a:prstGeom>
          <a:solidFill>
            <a:srgbClr val="E0A106">
              <a:alpha val="45000"/>
            </a:srgbClr>
          </a:solidFill>
          <a:ln w="12700">
            <a:solidFill>
              <a:srgbClr val="E0A106"/>
            </a:solidFill>
            <a:prstDash val="solid"/>
          </a:ln>
        </p:spPr>
        <p:txBody>
          <a:bodyPr/>
          <a:lstStyle/>
          <a:p>
            <a:endParaRPr lang="de-FR"/>
          </a:p>
        </p:txBody>
      </p:sp>
      <p:sp>
        <p:nvSpPr>
          <p:cNvPr id="12" name="Text 8"/>
          <p:cNvSpPr/>
          <p:nvPr/>
        </p:nvSpPr>
        <p:spPr>
          <a:xfrm>
            <a:off x="457200" y="2267712"/>
            <a:ext cx="1810512" cy="512064"/>
          </a:xfrm>
          <a:prstGeom prst="rect">
            <a:avLst/>
          </a:prstGeom>
          <a:noFill/>
          <a:ln/>
        </p:spPr>
        <p:txBody>
          <a:bodyPr wrap="square" lIns="0" tIns="0" rIns="0" bIns="0" rtlCol="0" anchor="t"/>
          <a:lstStyle/>
          <a:p>
            <a:pPr marL="0" indent="0" algn="ctr">
              <a:buNone/>
            </a:pPr>
            <a:r>
              <a:rPr lang="en-US" sz="750" dirty="0">
                <a:solidFill>
                  <a:srgbClr val="FFFFFF"/>
                </a:solidFill>
                <a:latin typeface="Arial" pitchFamily="34" charset="0"/>
                <a:ea typeface="Arial" pitchFamily="34" charset="-122"/>
                <a:cs typeface="Arial" pitchFamily="34" charset="-120"/>
              </a:rPr>
              <a:t>Covers federation fees, insurance, player registrations, facilities, equipment, website, training &amp; kits.</a:t>
            </a:r>
            <a:endParaRPr lang="en-US" sz="750" dirty="0"/>
          </a:p>
        </p:txBody>
      </p:sp>
      <p:pic>
        <p:nvPicPr>
          <p:cNvPr id="13" name="Image 2" descr="/sessions/ecstatic-optimistic-johnson/mnt/outputs/paypal-qr-generated.png"/>
          <p:cNvPicPr>
            <a:picLocks noChangeAspect="1"/>
          </p:cNvPicPr>
          <p:nvPr/>
        </p:nvPicPr>
        <p:blipFill>
          <a:blip r:embed="rId5"/>
          <a:stretch>
            <a:fillRect/>
          </a:stretch>
        </p:blipFill>
        <p:spPr>
          <a:xfrm>
            <a:off x="960120" y="2834640"/>
            <a:ext cx="804672" cy="804672"/>
          </a:xfrm>
          <a:prstGeom prst="rect">
            <a:avLst/>
          </a:prstGeom>
        </p:spPr>
      </p:pic>
      <p:sp>
        <p:nvSpPr>
          <p:cNvPr id="14" name="Text 9"/>
          <p:cNvSpPr/>
          <p:nvPr/>
        </p:nvSpPr>
        <p:spPr>
          <a:xfrm>
            <a:off x="438912" y="3675888"/>
            <a:ext cx="1847088" cy="146304"/>
          </a:xfrm>
          <a:prstGeom prst="rect">
            <a:avLst/>
          </a:prstGeom>
          <a:noFill/>
          <a:ln/>
        </p:spPr>
        <p:txBody>
          <a:bodyPr wrap="square" lIns="0" tIns="0" rIns="0" bIns="0" rtlCol="0" anchor="ctr"/>
          <a:lstStyle/>
          <a:p>
            <a:pPr marL="0" indent="0" algn="ctr">
              <a:buNone/>
            </a:pPr>
            <a:r>
              <a:rPr lang="en-US" sz="700" b="1" dirty="0">
                <a:solidFill>
                  <a:srgbClr val="E0A106"/>
                </a:solidFill>
                <a:latin typeface="Arial" pitchFamily="34" charset="0"/>
                <a:ea typeface="Arial" pitchFamily="34" charset="-122"/>
                <a:cs typeface="Arial" pitchFamily="34" charset="-120"/>
              </a:rPr>
              <a:t>Pay via PayPal</a:t>
            </a:r>
            <a:endParaRPr lang="en-US" sz="700" dirty="0"/>
          </a:p>
        </p:txBody>
      </p:sp>
      <p:sp>
        <p:nvSpPr>
          <p:cNvPr id="15" name="Text 10"/>
          <p:cNvSpPr/>
          <p:nvPr/>
        </p:nvSpPr>
        <p:spPr>
          <a:xfrm>
            <a:off x="438912" y="3840480"/>
            <a:ext cx="1847088" cy="128016"/>
          </a:xfrm>
          <a:prstGeom prst="rect">
            <a:avLst/>
          </a:prstGeom>
          <a:noFill/>
          <a:ln/>
        </p:spPr>
        <p:txBody>
          <a:bodyPr wrap="square" lIns="0" tIns="0" rIns="0" bIns="0" rtlCol="0" anchor="ctr"/>
          <a:lstStyle/>
          <a:p>
            <a:pPr marL="0" indent="0" algn="ctr">
              <a:buNone/>
            </a:pPr>
            <a:r>
              <a:rPr lang="en-US" sz="600" dirty="0">
                <a:solidFill>
                  <a:srgbClr val="8899AA"/>
                </a:solidFill>
                <a:latin typeface="Arial" pitchFamily="34" charset="0"/>
                <a:ea typeface="Arial" pitchFamily="34" charset="-122"/>
                <a:cs typeface="Arial" pitchFamily="34" charset="-120"/>
              </a:rPr>
              <a:t>kontakt@sc-metropolis25.de</a:t>
            </a:r>
            <a:endParaRPr lang="en-US" sz="600" dirty="0"/>
          </a:p>
        </p:txBody>
      </p:sp>
      <p:sp>
        <p:nvSpPr>
          <p:cNvPr id="16" name="Text 11"/>
          <p:cNvSpPr/>
          <p:nvPr/>
        </p:nvSpPr>
        <p:spPr>
          <a:xfrm>
            <a:off x="329184" y="3986784"/>
            <a:ext cx="2066544" cy="128016"/>
          </a:xfrm>
          <a:prstGeom prst="rect">
            <a:avLst/>
          </a:prstGeom>
          <a:noFill/>
          <a:ln/>
        </p:spPr>
        <p:txBody>
          <a:bodyPr wrap="square" lIns="0" tIns="0" rIns="0" bIns="0" rtlCol="0" anchor="ctr"/>
          <a:lstStyle/>
          <a:p>
            <a:pPr marL="0" indent="0" algn="ctr">
              <a:buNone/>
            </a:pPr>
            <a:r>
              <a:rPr lang="en-US" sz="550" i="1" dirty="0">
                <a:solidFill>
                  <a:srgbClr val="F59E0B"/>
                </a:solidFill>
                <a:latin typeface="Arial" pitchFamily="34" charset="0"/>
                <a:ea typeface="Arial" pitchFamily="34" charset="-122"/>
                <a:cs typeface="Arial" pitchFamily="34" charset="-120"/>
              </a:rPr>
              <a:t>⚠  Bank account setup in progress</a:t>
            </a:r>
            <a:endParaRPr lang="en-US" sz="550" dirty="0"/>
          </a:p>
        </p:txBody>
      </p:sp>
      <p:sp>
        <p:nvSpPr>
          <p:cNvPr id="17" name="Shape 12"/>
          <p:cNvSpPr/>
          <p:nvPr/>
        </p:nvSpPr>
        <p:spPr>
          <a:xfrm>
            <a:off x="2450592" y="1005840"/>
            <a:ext cx="2029968" cy="475488"/>
          </a:xfrm>
          <a:prstGeom prst="roundRect">
            <a:avLst>
              <a:gd name="adj" fmla="val 13462"/>
            </a:avLst>
          </a:prstGeom>
          <a:solidFill>
            <a:srgbClr val="E0A106"/>
          </a:solidFill>
          <a:ln w="1270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sp>
        <p:nvSpPr>
          <p:cNvPr id="18" name="Shape 13"/>
          <p:cNvSpPr/>
          <p:nvPr/>
        </p:nvSpPr>
        <p:spPr>
          <a:xfrm>
            <a:off x="2450592" y="1371600"/>
            <a:ext cx="2029968" cy="2761488"/>
          </a:xfrm>
          <a:prstGeom prst="roundRect">
            <a:avLst>
              <a:gd name="adj" fmla="val 3153"/>
            </a:avLst>
          </a:prstGeom>
          <a:solidFill>
            <a:srgbClr val="0D1F3C"/>
          </a:solidFill>
          <a:ln w="762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pic>
        <p:nvPicPr>
          <p:cNvPr id="19" name="Image 3" descr="preencoded.png"/>
          <p:cNvPicPr>
            <a:picLocks noChangeAspect="1"/>
          </p:cNvPicPr>
          <p:nvPr/>
        </p:nvPicPr>
        <p:blipFill>
          <a:blip r:embed="rId6"/>
          <a:stretch>
            <a:fillRect/>
          </a:stretch>
        </p:blipFill>
        <p:spPr>
          <a:xfrm>
            <a:off x="3291840" y="1060704"/>
            <a:ext cx="347472" cy="347472"/>
          </a:xfrm>
          <a:prstGeom prst="rect">
            <a:avLst/>
          </a:prstGeom>
        </p:spPr>
      </p:pic>
      <p:sp>
        <p:nvSpPr>
          <p:cNvPr id="20" name="Text 14"/>
          <p:cNvSpPr/>
          <p:nvPr/>
        </p:nvSpPr>
        <p:spPr>
          <a:xfrm>
            <a:off x="2542032" y="1517904"/>
            <a:ext cx="1847088" cy="329184"/>
          </a:xfrm>
          <a:prstGeom prst="rect">
            <a:avLst/>
          </a:prstGeom>
          <a:noFill/>
          <a:ln/>
        </p:spPr>
        <p:txBody>
          <a:bodyPr wrap="square" lIns="0" tIns="0" rIns="0" bIns="0" rtlCol="0" anchor="ctr"/>
          <a:lstStyle/>
          <a:p>
            <a:pPr marL="0" indent="0" algn="ctr">
              <a:buNone/>
            </a:pPr>
            <a:r>
              <a:rPr lang="en-US" sz="800" b="1" kern="0" spc="100" dirty="0">
                <a:solidFill>
                  <a:srgbClr val="E0A106"/>
                </a:solidFill>
                <a:latin typeface="Arial" pitchFamily="34" charset="0"/>
                <a:ea typeface="Arial" pitchFamily="34" charset="-122"/>
                <a:cs typeface="Arial" pitchFamily="34" charset="-120"/>
              </a:rPr>
              <a:t>SPORTS FACILITY</a:t>
            </a:r>
            <a:endParaRPr lang="en-US" sz="800" dirty="0"/>
          </a:p>
        </p:txBody>
      </p:sp>
      <p:sp>
        <p:nvSpPr>
          <p:cNvPr id="21" name="Text 15"/>
          <p:cNvSpPr/>
          <p:nvPr/>
        </p:nvSpPr>
        <p:spPr>
          <a:xfrm>
            <a:off x="2542032" y="1828800"/>
            <a:ext cx="184708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Help Us Find a Home</a:t>
            </a:r>
            <a:endParaRPr lang="en-US" sz="1100" dirty="0"/>
          </a:p>
        </p:txBody>
      </p:sp>
      <p:sp>
        <p:nvSpPr>
          <p:cNvPr id="22" name="Shape 16"/>
          <p:cNvSpPr/>
          <p:nvPr/>
        </p:nvSpPr>
        <p:spPr>
          <a:xfrm>
            <a:off x="2615184" y="2212848"/>
            <a:ext cx="1700784" cy="16459"/>
          </a:xfrm>
          <a:prstGeom prst="rect">
            <a:avLst/>
          </a:prstGeom>
          <a:solidFill>
            <a:srgbClr val="E0A106">
              <a:alpha val="45000"/>
            </a:srgbClr>
          </a:solidFill>
          <a:ln w="12700">
            <a:solidFill>
              <a:srgbClr val="E0A106"/>
            </a:solidFill>
            <a:prstDash val="solid"/>
          </a:ln>
        </p:spPr>
        <p:txBody>
          <a:bodyPr/>
          <a:lstStyle/>
          <a:p>
            <a:endParaRPr lang="de-FR"/>
          </a:p>
        </p:txBody>
      </p:sp>
      <p:sp>
        <p:nvSpPr>
          <p:cNvPr id="23" name="Text 17"/>
          <p:cNvSpPr/>
          <p:nvPr/>
        </p:nvSpPr>
        <p:spPr>
          <a:xfrm>
            <a:off x="2560320" y="2267712"/>
            <a:ext cx="1810512" cy="1682496"/>
          </a:xfrm>
          <a:prstGeom prst="rect">
            <a:avLst/>
          </a:prstGeom>
          <a:noFill/>
          <a:ln/>
        </p:spPr>
        <p:txBody>
          <a:bodyPr wrap="square" lIns="0" tIns="0" rIns="0" bIns="0" rtlCol="0" anchor="t"/>
          <a:lstStyle/>
          <a:p>
            <a:pPr marL="0" indent="0" algn="ctr">
              <a:buNone/>
            </a:pPr>
            <a:r>
              <a:rPr lang="en-US" sz="850" dirty="0">
                <a:solidFill>
                  <a:srgbClr val="FFFFFF"/>
                </a:solidFill>
                <a:latin typeface="Arial" pitchFamily="34" charset="0"/>
                <a:ea typeface="Arial" pitchFamily="34" charset="-122"/>
                <a:cs typeface="Arial" pitchFamily="34" charset="-120"/>
              </a:rPr>
              <a:t>Do you know schools, football clubs, sports halls, facility managers or district officials? Any lead helps.</a:t>
            </a:r>
            <a:endParaRPr lang="en-US" sz="850" dirty="0"/>
          </a:p>
        </p:txBody>
      </p:sp>
      <p:sp>
        <p:nvSpPr>
          <p:cNvPr id="24" name="Shape 18"/>
          <p:cNvSpPr/>
          <p:nvPr/>
        </p:nvSpPr>
        <p:spPr>
          <a:xfrm>
            <a:off x="4553712" y="1005840"/>
            <a:ext cx="2029968" cy="475488"/>
          </a:xfrm>
          <a:prstGeom prst="roundRect">
            <a:avLst>
              <a:gd name="adj" fmla="val 13462"/>
            </a:avLst>
          </a:prstGeom>
          <a:solidFill>
            <a:srgbClr val="E0A106"/>
          </a:solidFill>
          <a:ln w="1270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sp>
        <p:nvSpPr>
          <p:cNvPr id="25" name="Shape 19"/>
          <p:cNvSpPr/>
          <p:nvPr/>
        </p:nvSpPr>
        <p:spPr>
          <a:xfrm>
            <a:off x="4553712" y="1371600"/>
            <a:ext cx="2029968" cy="2761488"/>
          </a:xfrm>
          <a:prstGeom prst="roundRect">
            <a:avLst>
              <a:gd name="adj" fmla="val 3153"/>
            </a:avLst>
          </a:prstGeom>
          <a:solidFill>
            <a:srgbClr val="0D1F3C"/>
          </a:solidFill>
          <a:ln w="762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pic>
        <p:nvPicPr>
          <p:cNvPr id="26" name="Image 4" descr="preencoded.png"/>
          <p:cNvPicPr>
            <a:picLocks noChangeAspect="1"/>
          </p:cNvPicPr>
          <p:nvPr/>
        </p:nvPicPr>
        <p:blipFill>
          <a:blip r:embed="rId7"/>
          <a:stretch>
            <a:fillRect/>
          </a:stretch>
        </p:blipFill>
        <p:spPr>
          <a:xfrm>
            <a:off x="5394960" y="1060704"/>
            <a:ext cx="347472" cy="347472"/>
          </a:xfrm>
          <a:prstGeom prst="rect">
            <a:avLst/>
          </a:prstGeom>
        </p:spPr>
      </p:pic>
      <p:sp>
        <p:nvSpPr>
          <p:cNvPr id="27" name="Text 20"/>
          <p:cNvSpPr/>
          <p:nvPr/>
        </p:nvSpPr>
        <p:spPr>
          <a:xfrm>
            <a:off x="4645152" y="1517904"/>
            <a:ext cx="1847088" cy="329184"/>
          </a:xfrm>
          <a:prstGeom prst="rect">
            <a:avLst/>
          </a:prstGeom>
          <a:noFill/>
          <a:ln/>
        </p:spPr>
        <p:txBody>
          <a:bodyPr wrap="square" lIns="0" tIns="0" rIns="0" bIns="0" rtlCol="0" anchor="ctr"/>
          <a:lstStyle/>
          <a:p>
            <a:pPr marL="0" indent="0" algn="ctr">
              <a:buNone/>
            </a:pPr>
            <a:r>
              <a:rPr lang="en-US" sz="800" b="1" kern="0" spc="100" dirty="0">
                <a:solidFill>
                  <a:srgbClr val="E0A106"/>
                </a:solidFill>
                <a:latin typeface="Arial" pitchFamily="34" charset="0"/>
                <a:ea typeface="Arial" pitchFamily="34" charset="-122"/>
                <a:cs typeface="Arial" pitchFamily="34" charset="-120"/>
              </a:rPr>
              <a:t>SPONSORS</a:t>
            </a:r>
            <a:endParaRPr lang="en-US" sz="800" dirty="0"/>
          </a:p>
        </p:txBody>
      </p:sp>
      <p:sp>
        <p:nvSpPr>
          <p:cNvPr id="28" name="Text 21"/>
          <p:cNvSpPr/>
          <p:nvPr/>
        </p:nvSpPr>
        <p:spPr>
          <a:xfrm>
            <a:off x="4645152" y="1828800"/>
            <a:ext cx="184708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Introduce Us</a:t>
            </a:r>
            <a:endParaRPr lang="en-US" sz="1100" dirty="0"/>
          </a:p>
        </p:txBody>
      </p:sp>
      <p:sp>
        <p:nvSpPr>
          <p:cNvPr id="29" name="Shape 22"/>
          <p:cNvSpPr/>
          <p:nvPr/>
        </p:nvSpPr>
        <p:spPr>
          <a:xfrm>
            <a:off x="4718304" y="2212848"/>
            <a:ext cx="1700784" cy="16459"/>
          </a:xfrm>
          <a:prstGeom prst="rect">
            <a:avLst/>
          </a:prstGeom>
          <a:solidFill>
            <a:srgbClr val="E0A106">
              <a:alpha val="45000"/>
            </a:srgbClr>
          </a:solidFill>
          <a:ln w="12700">
            <a:solidFill>
              <a:srgbClr val="E0A106"/>
            </a:solidFill>
            <a:prstDash val="solid"/>
          </a:ln>
        </p:spPr>
        <p:txBody>
          <a:bodyPr/>
          <a:lstStyle/>
          <a:p>
            <a:endParaRPr lang="de-FR"/>
          </a:p>
        </p:txBody>
      </p:sp>
      <p:sp>
        <p:nvSpPr>
          <p:cNvPr id="30" name="Text 23"/>
          <p:cNvSpPr/>
          <p:nvPr/>
        </p:nvSpPr>
        <p:spPr>
          <a:xfrm>
            <a:off x="4663440" y="2267712"/>
            <a:ext cx="1810512" cy="1682496"/>
          </a:xfrm>
          <a:prstGeom prst="rect">
            <a:avLst/>
          </a:prstGeom>
          <a:noFill/>
          <a:ln/>
        </p:spPr>
        <p:txBody>
          <a:bodyPr wrap="square" lIns="0" tIns="0" rIns="0" bIns="0" rtlCol="0" anchor="t"/>
          <a:lstStyle/>
          <a:p>
            <a:pPr marL="0" indent="0" algn="ctr">
              <a:buNone/>
            </a:pPr>
            <a:r>
              <a:rPr lang="en-US" sz="850" dirty="0">
                <a:solidFill>
                  <a:srgbClr val="FFFFFF"/>
                </a:solidFill>
                <a:latin typeface="Arial" pitchFamily="34" charset="0"/>
                <a:ea typeface="Arial" pitchFamily="34" charset="-122"/>
                <a:cs typeface="Arial" pitchFamily="34" charset="-120"/>
              </a:rPr>
              <a:t>Your employer, local businesses, restaurants, gyms, banks, insurance companies, startups. One introduction can change everything.</a:t>
            </a:r>
            <a:endParaRPr lang="en-US" sz="850" dirty="0"/>
          </a:p>
        </p:txBody>
      </p:sp>
      <p:sp>
        <p:nvSpPr>
          <p:cNvPr id="31" name="Shape 24"/>
          <p:cNvSpPr/>
          <p:nvPr/>
        </p:nvSpPr>
        <p:spPr>
          <a:xfrm>
            <a:off x="6656832" y="1005840"/>
            <a:ext cx="2029968" cy="475488"/>
          </a:xfrm>
          <a:prstGeom prst="roundRect">
            <a:avLst>
              <a:gd name="adj" fmla="val 13462"/>
            </a:avLst>
          </a:prstGeom>
          <a:solidFill>
            <a:srgbClr val="E0A106"/>
          </a:solidFill>
          <a:ln w="1270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sp>
        <p:nvSpPr>
          <p:cNvPr id="32" name="Shape 25"/>
          <p:cNvSpPr/>
          <p:nvPr/>
        </p:nvSpPr>
        <p:spPr>
          <a:xfrm>
            <a:off x="6656832" y="1371600"/>
            <a:ext cx="2029968" cy="2761488"/>
          </a:xfrm>
          <a:prstGeom prst="roundRect">
            <a:avLst>
              <a:gd name="adj" fmla="val 3153"/>
            </a:avLst>
          </a:prstGeom>
          <a:solidFill>
            <a:srgbClr val="0D1F3C"/>
          </a:solidFill>
          <a:ln w="7620">
            <a:solidFill>
              <a:srgbClr val="E0A106"/>
            </a:solidFill>
            <a:prstDash val="solid"/>
          </a:ln>
          <a:effectLst>
            <a:outerShdw blurRad="177800" dist="50800" dir="8100000" algn="bl" rotWithShape="0">
              <a:srgbClr val="000000">
                <a:alpha val="28000"/>
              </a:srgbClr>
            </a:outerShdw>
          </a:effectLst>
        </p:spPr>
        <p:txBody>
          <a:bodyPr/>
          <a:lstStyle/>
          <a:p>
            <a:endParaRPr lang="de-FR"/>
          </a:p>
        </p:txBody>
      </p:sp>
      <p:pic>
        <p:nvPicPr>
          <p:cNvPr id="33" name="Image 5" descr="preencoded.png"/>
          <p:cNvPicPr>
            <a:picLocks noChangeAspect="1"/>
          </p:cNvPicPr>
          <p:nvPr/>
        </p:nvPicPr>
        <p:blipFill>
          <a:blip r:embed="rId8"/>
          <a:stretch>
            <a:fillRect/>
          </a:stretch>
        </p:blipFill>
        <p:spPr>
          <a:xfrm>
            <a:off x="7498080" y="1060704"/>
            <a:ext cx="347472" cy="347472"/>
          </a:xfrm>
          <a:prstGeom prst="rect">
            <a:avLst/>
          </a:prstGeom>
        </p:spPr>
      </p:pic>
      <p:sp>
        <p:nvSpPr>
          <p:cNvPr id="34" name="Text 26"/>
          <p:cNvSpPr/>
          <p:nvPr/>
        </p:nvSpPr>
        <p:spPr>
          <a:xfrm>
            <a:off x="6748272" y="1517904"/>
            <a:ext cx="1847088" cy="329184"/>
          </a:xfrm>
          <a:prstGeom prst="rect">
            <a:avLst/>
          </a:prstGeom>
          <a:noFill/>
          <a:ln/>
        </p:spPr>
        <p:txBody>
          <a:bodyPr wrap="square" lIns="0" tIns="0" rIns="0" bIns="0" rtlCol="0" anchor="ctr"/>
          <a:lstStyle/>
          <a:p>
            <a:pPr marL="0" indent="0" algn="ctr">
              <a:buNone/>
            </a:pPr>
            <a:r>
              <a:rPr lang="en-US" sz="800" b="1" kern="0" spc="100" dirty="0">
                <a:solidFill>
                  <a:srgbClr val="E0A106"/>
                </a:solidFill>
                <a:latin typeface="Arial" pitchFamily="34" charset="0"/>
                <a:ea typeface="Arial" pitchFamily="34" charset="-122"/>
                <a:cs typeface="Arial" pitchFamily="34" charset="-120"/>
              </a:rPr>
              <a:t>VOLUNTEER</a:t>
            </a:r>
            <a:endParaRPr lang="en-US" sz="800" dirty="0"/>
          </a:p>
        </p:txBody>
      </p:sp>
      <p:sp>
        <p:nvSpPr>
          <p:cNvPr id="35" name="Text 27"/>
          <p:cNvSpPr/>
          <p:nvPr/>
        </p:nvSpPr>
        <p:spPr>
          <a:xfrm>
            <a:off x="6748272" y="1828800"/>
            <a:ext cx="184708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Your Time Matters</a:t>
            </a:r>
            <a:endParaRPr lang="en-US" sz="1100" dirty="0"/>
          </a:p>
        </p:txBody>
      </p:sp>
      <p:sp>
        <p:nvSpPr>
          <p:cNvPr id="36" name="Shape 28"/>
          <p:cNvSpPr/>
          <p:nvPr/>
        </p:nvSpPr>
        <p:spPr>
          <a:xfrm>
            <a:off x="6821424" y="2212848"/>
            <a:ext cx="1700784" cy="16459"/>
          </a:xfrm>
          <a:prstGeom prst="rect">
            <a:avLst/>
          </a:prstGeom>
          <a:solidFill>
            <a:srgbClr val="E0A106">
              <a:alpha val="45000"/>
            </a:srgbClr>
          </a:solidFill>
          <a:ln w="12700">
            <a:solidFill>
              <a:srgbClr val="E0A106"/>
            </a:solidFill>
            <a:prstDash val="solid"/>
          </a:ln>
        </p:spPr>
        <p:txBody>
          <a:bodyPr/>
          <a:lstStyle/>
          <a:p>
            <a:endParaRPr lang="de-FR"/>
          </a:p>
        </p:txBody>
      </p:sp>
      <p:sp>
        <p:nvSpPr>
          <p:cNvPr id="37" name="Text 29"/>
          <p:cNvSpPr/>
          <p:nvPr/>
        </p:nvSpPr>
        <p:spPr>
          <a:xfrm>
            <a:off x="6766560" y="2267712"/>
            <a:ext cx="1810512" cy="1682496"/>
          </a:xfrm>
          <a:prstGeom prst="rect">
            <a:avLst/>
          </a:prstGeom>
          <a:noFill/>
          <a:ln/>
        </p:spPr>
        <p:txBody>
          <a:bodyPr wrap="square" lIns="0" tIns="0" rIns="0" bIns="0" rtlCol="0" anchor="t"/>
          <a:lstStyle/>
          <a:p>
            <a:pPr marL="0" indent="0" algn="ctr">
              <a:buNone/>
            </a:pPr>
            <a:r>
              <a:rPr lang="en-US" sz="850" dirty="0">
                <a:solidFill>
                  <a:srgbClr val="FFFFFF"/>
                </a:solidFill>
                <a:latin typeface="Arial" pitchFamily="34" charset="0"/>
                <a:ea typeface="Arial" pitchFamily="34" charset="-122"/>
                <a:cs typeface="Arial" pitchFamily="34" charset="-120"/>
              </a:rPr>
              <a:t>Football, basketball, events, social media, administration, community building. Every hour counts.</a:t>
            </a:r>
            <a:endParaRPr lang="en-US" sz="850" dirty="0"/>
          </a:p>
        </p:txBody>
      </p:sp>
      <p:sp>
        <p:nvSpPr>
          <p:cNvPr id="38" name="Shape 30"/>
          <p:cNvSpPr/>
          <p:nvPr/>
        </p:nvSpPr>
        <p:spPr>
          <a:xfrm>
            <a:off x="347472" y="4206240"/>
            <a:ext cx="8449056" cy="786384"/>
          </a:xfrm>
          <a:prstGeom prst="roundRect">
            <a:avLst>
              <a:gd name="adj" fmla="val 8140"/>
            </a:avLst>
          </a:prstGeom>
          <a:solidFill>
            <a:srgbClr val="071428"/>
          </a:solidFill>
          <a:ln w="12700">
            <a:solidFill>
              <a:srgbClr val="E0A106"/>
            </a:solidFill>
            <a:prstDash val="solid"/>
          </a:ln>
          <a:effectLst>
            <a:outerShdw blurRad="127000" dist="50800" dir="16200000" algn="bl" rotWithShape="0">
              <a:srgbClr val="000000">
                <a:alpha val="25000"/>
              </a:srgbClr>
            </a:outerShdw>
          </a:effectLst>
        </p:spPr>
        <p:txBody>
          <a:bodyPr/>
          <a:lstStyle/>
          <a:p>
            <a:endParaRPr lang="de-FR"/>
          </a:p>
        </p:txBody>
      </p:sp>
      <p:sp>
        <p:nvSpPr>
          <p:cNvPr id="39" name="Text 31"/>
          <p:cNvSpPr/>
          <p:nvPr/>
        </p:nvSpPr>
        <p:spPr>
          <a:xfrm>
            <a:off x="347472" y="4206240"/>
            <a:ext cx="8449056" cy="786384"/>
          </a:xfrm>
          <a:prstGeom prst="rect">
            <a:avLst/>
          </a:prstGeom>
          <a:noFill/>
          <a:ln/>
        </p:spPr>
        <p:txBody>
          <a:bodyPr wrap="square" lIns="0" tIns="0" rIns="0" bIns="0" rtlCol="0" anchor="ctr"/>
          <a:lstStyle/>
          <a:p>
            <a:pPr marL="0" indent="0" algn="ctr">
              <a:buNone/>
            </a:pPr>
            <a:r>
              <a:rPr lang="en-US" sz="1200" i="1" dirty="0">
                <a:solidFill>
                  <a:srgbClr val="FFFFFF"/>
                </a:solidFill>
                <a:latin typeface="Arial" pitchFamily="34" charset="0"/>
                <a:ea typeface="Arial" pitchFamily="34" charset="-122"/>
                <a:cs typeface="Arial" pitchFamily="34" charset="-120"/>
              </a:rPr>
              <a:t>SC Metropolis 25 was not built by one person.</a:t>
            </a:r>
            <a:endParaRPr lang="en-US" sz="1200" dirty="0"/>
          </a:p>
          <a:p>
            <a:pPr marL="0" indent="0" algn="ctr">
              <a:buNone/>
            </a:pPr>
            <a:r>
              <a:rPr lang="en-US" sz="1200" i="1" dirty="0">
                <a:solidFill>
                  <a:srgbClr val="FFFFFF"/>
                </a:solidFill>
                <a:latin typeface="Arial" pitchFamily="34" charset="0"/>
                <a:ea typeface="Arial" pitchFamily="34" charset="-122"/>
                <a:cs typeface="Arial" pitchFamily="34" charset="-120"/>
              </a:rPr>
              <a:t>It was built by a community.  </a:t>
            </a:r>
            <a:r>
              <a:rPr lang="en-US" sz="1200" b="1" i="1" dirty="0">
                <a:solidFill>
                  <a:srgbClr val="E0A106"/>
                </a:solidFill>
                <a:latin typeface="Arial" pitchFamily="34" charset="0"/>
                <a:ea typeface="Arial" pitchFamily="34" charset="-122"/>
                <a:cs typeface="Arial" pitchFamily="34" charset="-120"/>
              </a:rPr>
              <a:t>The next chapter begins with all of us.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2855"/>
          </a:solidFill>
          <a:ln w="12700">
            <a:solidFill>
              <a:srgbClr val="002855"/>
            </a:solidFill>
            <a:prstDash val="solid"/>
          </a:ln>
        </p:spPr>
        <p:txBody>
          <a:bodyPr/>
          <a:lstStyle/>
          <a:p>
            <a:endParaRPr lang="de-FR"/>
          </a:p>
        </p:txBody>
      </p:sp>
      <p:pic>
        <p:nvPicPr>
          <p:cNvPr id="3" name="Image 0" descr="/sessions/ecstatic-optimistic-johnson/mnt/outputs/hero_dark.jpg"/>
          <p:cNvPicPr>
            <a:picLocks noChangeAspect="1"/>
          </p:cNvPicPr>
          <p:nvPr/>
        </p:nvPicPr>
        <p:blipFill>
          <a:blip r:embed="rId3">
            <a:alphaModFix amt="15000"/>
          </a:blip>
          <a:stretch>
            <a:fillRect/>
          </a:stretch>
        </p:blipFill>
        <p:spPr>
          <a:xfrm>
            <a:off x="0" y="0"/>
            <a:ext cx="9144000" cy="5143500"/>
          </a:xfrm>
          <a:prstGeom prst="rect">
            <a:avLst/>
          </a:prstGeom>
        </p:spPr>
      </p:pic>
      <p:sp>
        <p:nvSpPr>
          <p:cNvPr id="4" name="Shape 1"/>
          <p:cNvSpPr/>
          <p:nvPr/>
        </p:nvSpPr>
        <p:spPr>
          <a:xfrm>
            <a:off x="0" y="0"/>
            <a:ext cx="9144000" cy="164592"/>
          </a:xfrm>
          <a:prstGeom prst="rect">
            <a:avLst/>
          </a:prstGeom>
          <a:solidFill>
            <a:srgbClr val="E0A106"/>
          </a:solidFill>
          <a:ln w="12700">
            <a:solidFill>
              <a:srgbClr val="E0A106"/>
            </a:solidFill>
            <a:prstDash val="solid"/>
          </a:ln>
        </p:spPr>
        <p:txBody>
          <a:bodyPr/>
          <a:lstStyle/>
          <a:p>
            <a:endParaRPr lang="de-FR"/>
          </a:p>
        </p:txBody>
      </p:sp>
      <p:pic>
        <p:nvPicPr>
          <p:cNvPr id="5" name="Image 1" descr="/sessions/ecstatic-optimistic-johnson/mnt/Sportclub website/public/m25-logo.png"/>
          <p:cNvPicPr>
            <a:picLocks noChangeAspect="1"/>
          </p:cNvPicPr>
          <p:nvPr/>
        </p:nvPicPr>
        <p:blipFill>
          <a:blip r:embed="rId4"/>
          <a:stretch>
            <a:fillRect/>
          </a:stretch>
        </p:blipFill>
        <p:spPr>
          <a:xfrm>
            <a:off x="4041648" y="310896"/>
            <a:ext cx="1060704" cy="1188720"/>
          </a:xfrm>
          <a:prstGeom prst="rect">
            <a:avLst/>
          </a:prstGeom>
        </p:spPr>
      </p:pic>
      <p:sp>
        <p:nvSpPr>
          <p:cNvPr id="6" name="Text 2"/>
          <p:cNvSpPr/>
          <p:nvPr/>
        </p:nvSpPr>
        <p:spPr>
          <a:xfrm>
            <a:off x="347472" y="1664208"/>
            <a:ext cx="8449056" cy="658368"/>
          </a:xfrm>
          <a:prstGeom prst="rect">
            <a:avLst/>
          </a:prstGeom>
          <a:noFill/>
          <a:ln/>
        </p:spPr>
        <p:txBody>
          <a:bodyPr wrap="square" lIns="0" tIns="0" rIns="0" bIns="0" rtlCol="0" anchor="ctr"/>
          <a:lstStyle/>
          <a:p>
            <a:pPr marL="0" indent="0" algn="ctr">
              <a:buNone/>
            </a:pPr>
            <a:r>
              <a:rPr lang="en-US" sz="5200" b="1" kern="0" spc="800" dirty="0">
                <a:solidFill>
                  <a:srgbClr val="FFFFFF"/>
                </a:solidFill>
                <a:latin typeface="Arial Black" pitchFamily="34" charset="0"/>
                <a:ea typeface="Arial Black" pitchFamily="34" charset="-122"/>
                <a:cs typeface="Arial Black" pitchFamily="34" charset="-120"/>
              </a:rPr>
              <a:t>THANK YOU</a:t>
            </a:r>
            <a:endParaRPr lang="en-US" sz="5200" dirty="0"/>
          </a:p>
        </p:txBody>
      </p:sp>
      <p:sp>
        <p:nvSpPr>
          <p:cNvPr id="7" name="Shape 3"/>
          <p:cNvSpPr/>
          <p:nvPr/>
        </p:nvSpPr>
        <p:spPr>
          <a:xfrm>
            <a:off x="3291840" y="2377440"/>
            <a:ext cx="2560320" cy="54864"/>
          </a:xfrm>
          <a:prstGeom prst="rect">
            <a:avLst/>
          </a:prstGeom>
          <a:solidFill>
            <a:srgbClr val="E0A106"/>
          </a:solidFill>
          <a:ln w="12700">
            <a:solidFill>
              <a:srgbClr val="E0A106"/>
            </a:solidFill>
            <a:prstDash val="solid"/>
          </a:ln>
        </p:spPr>
        <p:txBody>
          <a:bodyPr/>
          <a:lstStyle/>
          <a:p>
            <a:endParaRPr lang="de-FR"/>
          </a:p>
        </p:txBody>
      </p:sp>
      <p:sp>
        <p:nvSpPr>
          <p:cNvPr id="8" name="Text 4"/>
          <p:cNvSpPr/>
          <p:nvPr/>
        </p:nvSpPr>
        <p:spPr>
          <a:xfrm>
            <a:off x="347472" y="2505456"/>
            <a:ext cx="8449056" cy="438912"/>
          </a:xfrm>
          <a:prstGeom prst="rect">
            <a:avLst/>
          </a:prstGeom>
          <a:noFill/>
          <a:ln/>
        </p:spPr>
        <p:txBody>
          <a:bodyPr wrap="square" lIns="0" tIns="0" rIns="0" bIns="0" rtlCol="0" anchor="ctr"/>
          <a:lstStyle/>
          <a:p>
            <a:pPr marL="0" indent="0" algn="ctr">
              <a:buNone/>
            </a:pPr>
            <a:r>
              <a:rPr lang="en-US" sz="2000" i="1" dirty="0">
                <a:solidFill>
                  <a:srgbClr val="E0A106"/>
                </a:solidFill>
                <a:latin typeface="Arial" pitchFamily="34" charset="0"/>
                <a:ea typeface="Arial" pitchFamily="34" charset="-122"/>
                <a:cs typeface="Arial" pitchFamily="34" charset="-120"/>
              </a:rPr>
              <a:t>Questions &amp; Discussion</a:t>
            </a:r>
            <a:endParaRPr lang="en-US" sz="2000" dirty="0"/>
          </a:p>
        </p:txBody>
      </p:sp>
      <p:sp>
        <p:nvSpPr>
          <p:cNvPr id="9" name="Text 5"/>
          <p:cNvSpPr/>
          <p:nvPr/>
        </p:nvSpPr>
        <p:spPr>
          <a:xfrm>
            <a:off x="1371600" y="2980944"/>
            <a:ext cx="6400800" cy="292608"/>
          </a:xfrm>
          <a:prstGeom prst="rect">
            <a:avLst/>
          </a:prstGeom>
          <a:noFill/>
          <a:ln/>
        </p:spPr>
        <p:txBody>
          <a:bodyPr wrap="square" lIns="0" tIns="0" rIns="0" bIns="0" rtlCol="0" anchor="ctr"/>
          <a:lstStyle/>
          <a:p>
            <a:pPr marL="0" indent="0" algn="ctr">
              <a:buNone/>
            </a:pPr>
            <a:r>
              <a:rPr lang="en-US" sz="1100" dirty="0">
                <a:solidFill>
                  <a:srgbClr val="8899AA"/>
                </a:solidFill>
                <a:latin typeface="Arial" pitchFamily="34" charset="0"/>
                <a:ea typeface="Arial" pitchFamily="34" charset="-122"/>
                <a:cs typeface="Arial" pitchFamily="34" charset="-120"/>
              </a:rPr>
              <a:t>We welcome every question, idea, and suggestion.</a:t>
            </a:r>
            <a:endParaRPr lang="en-US" sz="1100" dirty="0"/>
          </a:p>
        </p:txBody>
      </p:sp>
      <p:sp>
        <p:nvSpPr>
          <p:cNvPr id="10" name="Shape 6"/>
          <p:cNvSpPr/>
          <p:nvPr/>
        </p:nvSpPr>
        <p:spPr>
          <a:xfrm>
            <a:off x="2377440" y="3383280"/>
            <a:ext cx="4389120" cy="548640"/>
          </a:xfrm>
          <a:prstGeom prst="roundRect">
            <a:avLst>
              <a:gd name="adj" fmla="val 50000"/>
            </a:avLst>
          </a:prstGeom>
          <a:solidFill>
            <a:srgbClr val="0D1F3C"/>
          </a:solidFill>
          <a:ln w="10160">
            <a:solidFill>
              <a:srgbClr val="E0A106"/>
            </a:solidFill>
            <a:prstDash val="solid"/>
          </a:ln>
          <a:effectLst>
            <a:outerShdw blurRad="101600" dist="25400" dir="8100000" algn="bl" rotWithShape="0">
              <a:srgbClr val="000000">
                <a:alpha val="22000"/>
              </a:srgbClr>
            </a:outerShdw>
          </a:effectLst>
        </p:spPr>
        <p:txBody>
          <a:bodyPr/>
          <a:lstStyle/>
          <a:p>
            <a:endParaRPr lang="de-FR"/>
          </a:p>
        </p:txBody>
      </p:sp>
      <p:sp>
        <p:nvSpPr>
          <p:cNvPr id="11" name="Text 7"/>
          <p:cNvSpPr/>
          <p:nvPr/>
        </p:nvSpPr>
        <p:spPr>
          <a:xfrm>
            <a:off x="2377440" y="3383280"/>
            <a:ext cx="438912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kontakt@sc-metropolis25.de</a:t>
            </a:r>
            <a:r>
              <a:rPr lang="en-US" sz="900" dirty="0">
                <a:solidFill>
                  <a:srgbClr val="E0A106"/>
                </a:solidFill>
                <a:latin typeface="Arial" pitchFamily="34" charset="0"/>
                <a:ea typeface="Arial" pitchFamily="34" charset="-122"/>
                <a:cs typeface="Arial" pitchFamily="34" charset="-120"/>
              </a:rPr>
              <a:t>  ·  </a:t>
            </a:r>
            <a:r>
              <a:rPr lang="en-US" sz="900" dirty="0">
                <a:solidFill>
                  <a:srgbClr val="8899AA"/>
                </a:solidFill>
                <a:latin typeface="Arial" pitchFamily="34" charset="0"/>
                <a:ea typeface="Arial" pitchFamily="34" charset="-122"/>
                <a:cs typeface="Arial" pitchFamily="34" charset="-120"/>
              </a:rPr>
              <a:t>sc-metropolis25.de</a:t>
            </a:r>
            <a:endParaRPr lang="en-US" sz="900" dirty="0"/>
          </a:p>
        </p:txBody>
      </p:sp>
      <p:sp>
        <p:nvSpPr>
          <p:cNvPr id="12" name="Shape 8"/>
          <p:cNvSpPr/>
          <p:nvPr/>
        </p:nvSpPr>
        <p:spPr>
          <a:xfrm>
            <a:off x="0" y="4645152"/>
            <a:ext cx="9144000" cy="498348"/>
          </a:xfrm>
          <a:prstGeom prst="rect">
            <a:avLst/>
          </a:prstGeom>
          <a:solidFill>
            <a:srgbClr val="E0A106"/>
          </a:solidFill>
          <a:ln w="12700">
            <a:solidFill>
              <a:srgbClr val="E0A106"/>
            </a:solidFill>
            <a:prstDash val="solid"/>
          </a:ln>
        </p:spPr>
        <p:txBody>
          <a:bodyPr/>
          <a:lstStyle/>
          <a:p>
            <a:endParaRPr lang="de-FR"/>
          </a:p>
        </p:txBody>
      </p:sp>
      <p:sp>
        <p:nvSpPr>
          <p:cNvPr id="13" name="Text 9"/>
          <p:cNvSpPr/>
          <p:nvPr/>
        </p:nvSpPr>
        <p:spPr>
          <a:xfrm>
            <a:off x="347472" y="4645152"/>
            <a:ext cx="8449056" cy="498348"/>
          </a:xfrm>
          <a:prstGeom prst="rect">
            <a:avLst/>
          </a:prstGeom>
          <a:noFill/>
          <a:ln/>
        </p:spPr>
        <p:txBody>
          <a:bodyPr wrap="square" lIns="0" tIns="0" rIns="0" bIns="0" rtlCol="0" anchor="ctr"/>
          <a:lstStyle/>
          <a:p>
            <a:pPr marL="0" indent="0" algn="ctr">
              <a:buNone/>
            </a:pPr>
            <a:r>
              <a:rPr lang="en-US" sz="1000" b="1" i="1" dirty="0">
                <a:solidFill>
                  <a:srgbClr val="0B1628"/>
                </a:solidFill>
                <a:latin typeface="Arial" pitchFamily="34" charset="0"/>
                <a:ea typeface="Arial" pitchFamily="34" charset="-122"/>
                <a:cs typeface="Arial" pitchFamily="34" charset="-120"/>
              </a:rPr>
              <a:t>Wo Berlin pulsiert, wächst unsere Stärke.  ·  SC Metropolis 25 Berlin e.V.</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2577</Words>
  <Application>Microsoft Macintosh PowerPoint</Application>
  <PresentationFormat>Bildschirmpräsentation (16:9)</PresentationFormat>
  <Paragraphs>120</Paragraphs>
  <Slides>6</Slides>
  <Notes>6</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6</vt:i4>
      </vt:variant>
    </vt:vector>
  </HeadingPairs>
  <TitlesOfParts>
    <vt:vector size="9" baseType="lpstr">
      <vt:lpstr>Arial</vt:lpstr>
      <vt:lpstr>Arial Black</vt:lpstr>
      <vt:lpstr>Office Theme</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Members Update – July 2026</dc:title>
  <dc:subject>Online Members Meeting</dc:subject>
  <dc:creator>SC Metropolis 25 Berlin e.V.</dc:creator>
  <cp:lastModifiedBy>Raoul Atabong</cp:lastModifiedBy>
  <cp:revision>1</cp:revision>
  <dcterms:created xsi:type="dcterms:W3CDTF">2026-07-10T11:46:55Z</dcterms:created>
  <dcterms:modified xsi:type="dcterms:W3CDTF">2026-07-10T11:49:08Z</dcterms:modified>
</cp:coreProperties>
</file>